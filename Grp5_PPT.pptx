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4" r:id="rId3"/>
    <p:sldId id="265" r:id="rId4"/>
    <p:sldId id="257" r:id="rId5"/>
    <p:sldId id="266" r:id="rId6"/>
    <p:sldId id="260" r:id="rId7"/>
    <p:sldId id="271" r:id="rId8"/>
    <p:sldId id="272" r:id="rId9"/>
    <p:sldId id="273" r:id="rId10"/>
    <p:sldId id="267" r:id="rId11"/>
    <p:sldId id="269" r:id="rId12"/>
    <p:sldId id="274" r:id="rId13"/>
    <p:sldId id="263"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18" autoAdjust="0"/>
    <p:restoredTop sz="88745" autoAdjust="0"/>
  </p:normalViewPr>
  <p:slideViewPr>
    <p:cSldViewPr snapToGrid="0" snapToObjects="1">
      <p:cViewPr varScale="1">
        <p:scale>
          <a:sx n="127" d="100"/>
          <a:sy n="127" d="100"/>
        </p:scale>
        <p:origin x="9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6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(0:00–0:40): Hi, we're Group 6. Our project is a LangChain-powered World Cup Match Predictor and Analyst Chatbot — Track 1. We built a conversational AI that answers historical World Cup questions using RAG, and can predict match outcomes using a 5-factor statistical model. Our data comes from Kaggle — 49,000+ match records. Let me hand off to [Person 2] to walk through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DFFEA-4F00-8CB4-A46F-74FF1BCF0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8DABE-26DE-1B85-F53C-DE99541EA3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DE25EE-4DA1-25D7-03A6-9F057AF7AD2E}"/>
              </a:ext>
            </a:extLst>
          </p:cNvPr>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a:extLst>
              <a:ext uri="{FF2B5EF4-FFF2-40B4-BE49-F238E27FC236}">
                <a16:creationId xmlns:a16="http://schemas.microsoft.com/office/drawing/2014/main" id="{81A342E3-AF59-92C0-FB82-7C4133F2784F}"/>
              </a:ext>
            </a:extLst>
          </p:cNvPr>
          <p:cNvSpPr>
            <a:spLocks noGrp="1"/>
          </p:cNvSpPr>
          <p:nvPr>
            <p:ph type="sldNum" sz="quarter" idx="5"/>
          </p:nvPr>
        </p:nvSpPr>
        <p:spPr/>
      </p:sp>
    </p:spTree>
    <p:extLst>
      <p:ext uri="{BB962C8B-B14F-4D97-AF65-F5344CB8AC3E}">
        <p14:creationId xmlns:p14="http://schemas.microsoft.com/office/powerpoint/2010/main" val="4243872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4787-FE35-FD77-04E6-ABFA358C7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2A457-B789-6B5C-C8F8-6A60DE81AD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D6203A4-9253-7C43-52F2-21B8DCD14A63}"/>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EEBEB641-640F-1F86-28A3-BFE2ED6B3AD4}"/>
              </a:ext>
            </a:extLst>
          </p:cNvPr>
          <p:cNvSpPr>
            <a:spLocks noGrp="1"/>
          </p:cNvSpPr>
          <p:nvPr>
            <p:ph type="sldNum" sz="quarter" idx="5"/>
          </p:nvPr>
        </p:nvSpPr>
        <p:spPr/>
      </p:sp>
    </p:spTree>
    <p:extLst>
      <p:ext uri="{BB962C8B-B14F-4D97-AF65-F5344CB8AC3E}">
        <p14:creationId xmlns:p14="http://schemas.microsoft.com/office/powerpoint/2010/main" val="2642375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B49F-9AF4-5856-EC44-C0CFDCABB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CFC8C-4B80-040D-3A04-93C46A2015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9302EE-DAB4-18F9-6D63-A50C0C90A108}"/>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22B97D6D-F58B-E8B8-5490-4A86F2527D57}"/>
              </a:ext>
            </a:extLst>
          </p:cNvPr>
          <p:cNvSpPr>
            <a:spLocks noGrp="1"/>
          </p:cNvSpPr>
          <p:nvPr>
            <p:ph type="sldNum" sz="quarter" idx="5"/>
          </p:nvPr>
        </p:nvSpPr>
        <p:spPr/>
      </p:sp>
    </p:spTree>
    <p:extLst>
      <p:ext uri="{BB962C8B-B14F-4D97-AF65-F5344CB8AC3E}">
        <p14:creationId xmlns:p14="http://schemas.microsoft.com/office/powerpoint/2010/main" val="1318621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5FE72-9045-AF01-6214-465B0C86F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EA273-3314-1814-2FD8-06C1958A63E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6270FC-D0E8-45A0-4FB9-BCE3D8FC623E}"/>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3C5E8327-71A8-B90F-01BA-D1220047DA6D}"/>
              </a:ext>
            </a:extLst>
          </p:cNvPr>
          <p:cNvSpPr>
            <a:spLocks noGrp="1"/>
          </p:cNvSpPr>
          <p:nvPr>
            <p:ph type="sldNum" sz="quarter" idx="5"/>
          </p:nvPr>
        </p:nvSpPr>
        <p:spPr/>
      </p:sp>
    </p:spTree>
    <p:extLst>
      <p:ext uri="{BB962C8B-B14F-4D97-AF65-F5344CB8AC3E}">
        <p14:creationId xmlns:p14="http://schemas.microsoft.com/office/powerpoint/2010/main" val="3481669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A5FAC-C0A8-D75F-C6ED-DBADE160F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093AB-77DF-8C14-07E0-617E18CAD6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C1DB2BB-8AC8-EA85-6767-2006C72EF1D6}"/>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5B57BE4A-8462-4DF4-7D4F-FC5160F8C3D1}"/>
              </a:ext>
            </a:extLst>
          </p:cNvPr>
          <p:cNvSpPr>
            <a:spLocks noGrp="1"/>
          </p:cNvSpPr>
          <p:nvPr>
            <p:ph type="sldNum" sz="quarter" idx="5"/>
          </p:nvPr>
        </p:nvSpPr>
        <p:spPr/>
      </p:sp>
    </p:spTree>
    <p:extLst>
      <p:ext uri="{BB962C8B-B14F-4D97-AF65-F5344CB8AC3E}">
        <p14:creationId xmlns:p14="http://schemas.microsoft.com/office/powerpoint/2010/main" val="4136271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87CD4-F8B2-33A4-FE64-BC707A668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CA30-312D-8AB5-C849-7CD88ED436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F402BA-9828-5911-8C93-4B06DC40A90B}"/>
              </a:ext>
            </a:extLst>
          </p:cNvPr>
          <p:cNvSpPr>
            <a:spLocks noGrp="1"/>
          </p:cNvSpPr>
          <p:nvPr>
            <p:ph type="body" sz="quarter" idx="3"/>
          </p:nvPr>
        </p:nvSpPr>
        <p:spPr/>
        <p:txBody>
          <a:bodyPr/>
          <a:lstStyle/>
          <a:p>
            <a:r>
              <a:t>DEMO (2:20–4:00): Switch to the Gradio interface now. Person 1 sets preferences. Person 2 asks the history question and the follow-up to show memory. Person 3 runs the Argentina vs France prediction — point out the auto-generated bar chart and radar chart. Then show the Atlantis edge case — the fallback prompt fires and says 'I don't have data for this team.' Finally switch answer_style to brief and ask about Germany.</a:t>
            </a:r>
          </a:p>
        </p:txBody>
      </p:sp>
      <p:sp>
        <p:nvSpPr>
          <p:cNvPr id="4" name="Slide Number Placeholder 3">
            <a:extLst>
              <a:ext uri="{FF2B5EF4-FFF2-40B4-BE49-F238E27FC236}">
                <a16:creationId xmlns:a16="http://schemas.microsoft.com/office/drawing/2014/main" id="{BD668AC6-C782-8C48-B425-0C061B5AA13E}"/>
              </a:ext>
            </a:extLst>
          </p:cNvPr>
          <p:cNvSpPr>
            <a:spLocks noGrp="1"/>
          </p:cNvSpPr>
          <p:nvPr>
            <p:ph type="sldNum" sz="quarter" idx="5"/>
          </p:nvPr>
        </p:nvSpPr>
        <p:spPr/>
      </p:sp>
    </p:spTree>
    <p:extLst>
      <p:ext uri="{BB962C8B-B14F-4D97-AF65-F5344CB8AC3E}">
        <p14:creationId xmlns:p14="http://schemas.microsoft.com/office/powerpoint/2010/main" val="1725046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4942-2D93-3D2B-6C7C-F8F1A464C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6732A-3B9D-D484-7DD1-5C71D4A07B8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1D935EE-B4F3-84F3-A8C7-D47210D98B63}"/>
              </a:ext>
            </a:extLst>
          </p:cNvPr>
          <p:cNvSpPr>
            <a:spLocks noGrp="1"/>
          </p:cNvSpPr>
          <p:nvPr>
            <p:ph type="body" sz="quarter" idx="3"/>
          </p:nvPr>
        </p:nvSpPr>
        <p:spPr/>
        <p:txBody>
          <a:bodyPr/>
          <a:lstStyle/>
          <a:p>
            <a:r>
              <a:t>PERSON 1 (4:00–5:00): Here's how we map to each grading criterion. 40% architecture — 5 tools, 4 prompt templates, memory. 20% data — Tier 1 Kaggle, fully reproducible. 20% grounded outputs — no hallucination, fallback prompts. 10% innovation — Gradio UI, prediction charts. 10% presentation — this deck and the demo. On the right, each of us owned specific components.</a:t>
            </a:r>
          </a:p>
        </p:txBody>
      </p:sp>
      <p:sp>
        <p:nvSpPr>
          <p:cNvPr id="4" name="Slide Number Placeholder 3">
            <a:extLst>
              <a:ext uri="{FF2B5EF4-FFF2-40B4-BE49-F238E27FC236}">
                <a16:creationId xmlns:a16="http://schemas.microsoft.com/office/drawing/2014/main" id="{573FF450-C03D-CF5B-454C-5AF4085119EC}"/>
              </a:ext>
            </a:extLst>
          </p:cNvPr>
          <p:cNvSpPr>
            <a:spLocks noGrp="1"/>
          </p:cNvSpPr>
          <p:nvPr>
            <p:ph type="sldNum" sz="quarter" idx="5"/>
          </p:nvPr>
        </p:nvSpPr>
        <p:spPr/>
      </p:sp>
    </p:spTree>
    <p:extLst>
      <p:ext uri="{BB962C8B-B14F-4D97-AF65-F5344CB8AC3E}">
        <p14:creationId xmlns:p14="http://schemas.microsoft.com/office/powerpoint/2010/main" val="4163674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3 (5:00–6:00): To wrap up — our limitations: data goes through early 2026, no real-time squad info, and outputs are educational only. We explicitly state these in every prediction response — that's part of our responsible AI design. Future work: Elo ratings, live API data, tournament simulation. What we delivered: a fully grounded, reproducible LangChain system — every stat from data, every answer citable, no hallucination.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45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martj42/international-football-results-from-1872-to-2017"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1" y="5943600"/>
            <a:ext cx="12188825" cy="9144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1097280" cy="914400"/>
          </a:xfrm>
          <a:prstGeom prst="rect">
            <a:avLst/>
          </a:prstGeom>
          <a:noFill/>
        </p:spPr>
        <p:txBody>
          <a:bodyPr wrap="square">
            <a:spAutoFit/>
          </a:bodyPr>
          <a:lstStyle/>
          <a:p>
            <a:pPr algn="l"/>
            <a:r>
              <a:rPr sz="5200" b="0" i="0">
                <a:solidFill>
                  <a:srgbClr val="FFFFFF"/>
                </a:solidFill>
                <a:latin typeface="Times New Roman" panose="02020603050405020304" pitchFamily="18" charset="0"/>
                <a:cs typeface="Times New Roman" panose="02020603050405020304" pitchFamily="18" charset="0"/>
              </a:rPr>
              <a:t>⚽</a:t>
            </a:r>
          </a:p>
        </p:txBody>
      </p:sp>
      <p:sp>
        <p:nvSpPr>
          <p:cNvPr id="6" name="Rectangle 5"/>
          <p:cNvSpPr/>
          <p:nvPr/>
        </p:nvSpPr>
        <p:spPr>
          <a:xfrm>
            <a:off x="-1" y="1280160"/>
            <a:ext cx="12188953" cy="26161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365759" y="1280160"/>
            <a:ext cx="11503025" cy="261610"/>
          </a:xfrm>
          <a:prstGeom prst="rect">
            <a:avLst/>
          </a:prstGeom>
          <a:noFill/>
        </p:spPr>
        <p:txBody>
          <a:bodyPr wrap="square">
            <a:spAutoFit/>
          </a:bodyPr>
          <a:lstStyle/>
          <a:p>
            <a:pPr algn="ctr"/>
            <a:r>
              <a:rPr sz="1100" b="1" i="0">
                <a:solidFill>
                  <a:srgbClr val="FFFFFF"/>
                </a:solidFill>
                <a:latin typeface="Times New Roman" panose="02020603050405020304" pitchFamily="18" charset="0"/>
                <a:cs typeface="Times New Roman" panose="02020603050405020304" pitchFamily="18" charset="0"/>
              </a:rPr>
              <a:t>TRACK 1  |  GenAI Hackathon</a:t>
            </a:r>
          </a:p>
        </p:txBody>
      </p:sp>
      <p:sp>
        <p:nvSpPr>
          <p:cNvPr id="8" name="TextBox 7"/>
          <p:cNvSpPr txBox="1"/>
          <p:nvPr/>
        </p:nvSpPr>
        <p:spPr>
          <a:xfrm>
            <a:off x="221185" y="1664208"/>
            <a:ext cx="11503025" cy="2123658"/>
          </a:xfrm>
          <a:prstGeom prst="rect">
            <a:avLst/>
          </a:prstGeom>
          <a:noFill/>
        </p:spPr>
        <p:txBody>
          <a:bodyPr wrap="square">
            <a:spAutoFit/>
          </a:bodyPr>
          <a:lstStyle/>
          <a:p>
            <a:pPr algn="ctr"/>
            <a:r>
              <a:rPr sz="4400" b="1" i="0" dirty="0">
                <a:solidFill>
                  <a:srgbClr val="FFFFFF"/>
                </a:solidFill>
                <a:latin typeface="Times New Roman" panose="02020603050405020304" pitchFamily="18" charset="0"/>
                <a:cs typeface="Times New Roman" panose="02020603050405020304" pitchFamily="18" charset="0"/>
              </a:rPr>
              <a:t>World Cup Match</a:t>
            </a:r>
            <a:r>
              <a:rPr lang="en-IN" sz="4400" b="1" i="0" dirty="0">
                <a:solidFill>
                  <a:srgbClr val="FFFFFF"/>
                </a:solidFill>
                <a:latin typeface="Times New Roman" panose="02020603050405020304" pitchFamily="18" charset="0"/>
                <a:cs typeface="Times New Roman" panose="02020603050405020304" pitchFamily="18" charset="0"/>
              </a:rPr>
              <a:t> </a:t>
            </a:r>
            <a:r>
              <a:rPr sz="4400" b="1" i="0" dirty="0">
                <a:solidFill>
                  <a:srgbClr val="FFFFFF"/>
                </a:solidFill>
                <a:latin typeface="Times New Roman" panose="02020603050405020304" pitchFamily="18" charset="0"/>
                <a:cs typeface="Times New Roman" panose="02020603050405020304" pitchFamily="18" charset="0"/>
              </a:rPr>
              <a:t>Predictor </a:t>
            </a:r>
            <a:endParaRPr lang="en-IN" sz="4400" b="1" i="0" dirty="0">
              <a:solidFill>
                <a:srgbClr val="FFFFFF"/>
              </a:solidFill>
              <a:latin typeface="Times New Roman" panose="02020603050405020304" pitchFamily="18" charset="0"/>
              <a:cs typeface="Times New Roman" panose="02020603050405020304" pitchFamily="18" charset="0"/>
            </a:endParaRPr>
          </a:p>
          <a:p>
            <a:pPr algn="ctr"/>
            <a:r>
              <a:rPr sz="4400" b="1" i="0" dirty="0">
                <a:solidFill>
                  <a:srgbClr val="FFFFFF"/>
                </a:solidFill>
                <a:latin typeface="Times New Roman" panose="02020603050405020304" pitchFamily="18" charset="0"/>
                <a:cs typeface="Times New Roman" panose="02020603050405020304" pitchFamily="18" charset="0"/>
              </a:rPr>
              <a:t>&amp;
Analyst Chatbot</a:t>
            </a:r>
          </a:p>
        </p:txBody>
      </p:sp>
      <p:sp>
        <p:nvSpPr>
          <p:cNvPr id="9" name="TextBox 8"/>
          <p:cNvSpPr txBox="1"/>
          <p:nvPr/>
        </p:nvSpPr>
        <p:spPr>
          <a:xfrm>
            <a:off x="365760" y="3718929"/>
            <a:ext cx="3840480" cy="292388"/>
          </a:xfrm>
          <a:prstGeom prst="rect">
            <a:avLst/>
          </a:prstGeom>
          <a:noFill/>
        </p:spPr>
        <p:txBody>
          <a:bodyPr wrap="square">
            <a:spAutoFit/>
          </a:bodyPr>
          <a:lstStyle/>
          <a:p>
            <a:pPr algn="l"/>
            <a:r>
              <a:rPr sz="1300" b="0" i="1" dirty="0" err="1">
                <a:solidFill>
                  <a:srgbClr val="CCD6E0"/>
                </a:solidFill>
                <a:latin typeface="Times New Roman" panose="02020603050405020304" pitchFamily="18" charset="0"/>
                <a:cs typeface="Times New Roman" panose="02020603050405020304" pitchFamily="18" charset="0"/>
              </a:rPr>
              <a:t>LangChain</a:t>
            </a:r>
            <a:r>
              <a:rPr sz="1300" b="0" i="1" dirty="0">
                <a:solidFill>
                  <a:srgbClr val="CCD6E0"/>
                </a:solidFill>
                <a:latin typeface="Times New Roman" panose="02020603050405020304" pitchFamily="18" charset="0"/>
                <a:cs typeface="Times New Roman" panose="02020603050405020304" pitchFamily="18" charset="0"/>
              </a:rPr>
              <a:t> · FAISS · GPT-4o · RAG</a:t>
            </a:r>
          </a:p>
        </p:txBody>
      </p:sp>
      <p:grpSp>
        <p:nvGrpSpPr>
          <p:cNvPr id="37" name="Group 36">
            <a:extLst>
              <a:ext uri="{FF2B5EF4-FFF2-40B4-BE49-F238E27FC236}">
                <a16:creationId xmlns:a16="http://schemas.microsoft.com/office/drawing/2014/main" id="{93DB4613-CAC5-4528-BE1C-2B5DEAF52DF5}"/>
              </a:ext>
            </a:extLst>
          </p:cNvPr>
          <p:cNvGrpSpPr/>
          <p:nvPr/>
        </p:nvGrpSpPr>
        <p:grpSpPr>
          <a:xfrm>
            <a:off x="365759" y="4613911"/>
            <a:ext cx="2035278" cy="1159761"/>
            <a:chOff x="365760" y="4663440"/>
            <a:chExt cx="3657600" cy="1112869"/>
          </a:xfrm>
        </p:grpSpPr>
        <p:sp>
          <p:nvSpPr>
            <p:cNvPr id="10" name="TextBox 9"/>
            <p:cNvSpPr txBox="1"/>
            <p:nvPr/>
          </p:nvSpPr>
          <p:spPr>
            <a:xfrm>
              <a:off x="365760" y="4663440"/>
              <a:ext cx="3657600" cy="251032"/>
            </a:xfrm>
            <a:prstGeom prst="rect">
              <a:avLst/>
            </a:prstGeom>
            <a:noFill/>
          </p:spPr>
          <p:txBody>
            <a:bodyPr wrap="square">
              <a:spAutoFit/>
            </a:bodyPr>
            <a:lstStyle/>
            <a:p>
              <a:pPr algn="l"/>
              <a:r>
                <a:rPr sz="1100" b="1" i="0">
                  <a:solidFill>
                    <a:srgbClr val="C88600"/>
                  </a:solidFill>
                  <a:latin typeface="Times New Roman" panose="02020603050405020304" pitchFamily="18" charset="0"/>
                  <a:cs typeface="Times New Roman" panose="02020603050405020304" pitchFamily="18" charset="0"/>
                </a:rPr>
                <a:t>GROUP </a:t>
              </a:r>
              <a:r>
                <a:rPr lang="en-US" sz="1100" b="1" i="0">
                  <a:solidFill>
                    <a:srgbClr val="C88600"/>
                  </a:solidFill>
                  <a:latin typeface="Times New Roman" panose="02020603050405020304" pitchFamily="18" charset="0"/>
                  <a:cs typeface="Times New Roman" panose="02020603050405020304" pitchFamily="18" charset="0"/>
                </a:rPr>
                <a:t>5</a:t>
              </a:r>
              <a:endParaRPr sz="1100" b="1" i="0" dirty="0">
                <a:solidFill>
                  <a:srgbClr val="C886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365760" y="4983480"/>
              <a:ext cx="3657600" cy="198469"/>
            </a:xfrm>
            <a:prstGeom prst="rect">
              <a:avLst/>
            </a:prstGeom>
            <a:noFill/>
          </p:spPr>
          <p:txBody>
            <a:bodyPr wrap="square">
              <a:spAutoFit/>
            </a:bodyPr>
            <a:lstStyle/>
            <a:p>
              <a:pPr algn="l"/>
              <a:r>
                <a:rPr sz="1300" b="0" i="0" dirty="0">
                  <a:solidFill>
                    <a:srgbClr val="FFFFFF"/>
                  </a:solidFill>
                  <a:latin typeface="Times New Roman" panose="02020603050405020304" pitchFamily="18" charset="0"/>
                  <a:cs typeface="Times New Roman" panose="02020603050405020304" pitchFamily="18" charset="0"/>
                </a:rPr>
                <a:t>Novia Dsilva</a:t>
              </a:r>
            </a:p>
          </p:txBody>
        </p:sp>
        <p:sp>
          <p:nvSpPr>
            <p:cNvPr id="12" name="TextBox 11"/>
            <p:cNvSpPr txBox="1"/>
            <p:nvPr/>
          </p:nvSpPr>
          <p:spPr>
            <a:xfrm>
              <a:off x="365760" y="5285232"/>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Sushmitha Sudharsan</a:t>
              </a:r>
            </a:p>
          </p:txBody>
        </p:sp>
        <p:sp>
          <p:nvSpPr>
            <p:cNvPr id="13" name="TextBox 12"/>
            <p:cNvSpPr txBox="1"/>
            <p:nvPr/>
          </p:nvSpPr>
          <p:spPr>
            <a:xfrm>
              <a:off x="365760" y="5577840"/>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Tanmayi Shurpali</a:t>
              </a:r>
            </a:p>
          </p:txBody>
        </p:sp>
      </p:grpSp>
      <p:sp>
        <p:nvSpPr>
          <p:cNvPr id="14" name="TextBox 13"/>
          <p:cNvSpPr txBox="1"/>
          <p:nvPr/>
        </p:nvSpPr>
        <p:spPr>
          <a:xfrm>
            <a:off x="365760" y="6126480"/>
            <a:ext cx="3657600" cy="261610"/>
          </a:xfrm>
          <a:prstGeom prst="rect">
            <a:avLst/>
          </a:prstGeom>
          <a:noFill/>
        </p:spPr>
        <p:txBody>
          <a:bodyPr wrap="square">
            <a:spAutoFit/>
          </a:bodyPr>
          <a:lstStyle/>
          <a:p>
            <a:pPr algn="l"/>
            <a:r>
              <a:rPr sz="1100" b="0" i="1">
                <a:solidFill>
                  <a:srgbClr val="FFFFFF"/>
                </a:solidFill>
                <a:latin typeface="Times New Roman" panose="02020603050405020304" pitchFamily="18" charset="0"/>
                <a:cs typeface="Times New Roman" panose="02020603050405020304" pitchFamily="18" charset="0"/>
              </a:rPr>
              <a:t>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09441"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975105"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The Challenge</a:t>
            </a:r>
            <a:endParaRPr lang="en-US" sz="1866" dirty="0">
              <a:latin typeface="Times New Roman" panose="02020603050405020304" pitchFamily="18" charset="0"/>
              <a:cs typeface="Times New Roman" panose="02020603050405020304" pitchFamily="18" charset="0"/>
            </a:endParaRPr>
          </a:p>
        </p:txBody>
      </p:sp>
      <p:sp>
        <p:nvSpPr>
          <p:cNvPr id="5" name="Text 3"/>
          <p:cNvSpPr/>
          <p:nvPr/>
        </p:nvSpPr>
        <p:spPr>
          <a:xfrm>
            <a:off x="975105"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Football fans need quick, data-backed answers about World Cup history</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Comparing teams requires searching scattered sources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No single tool combines historical Q&amp;A with transparent prediction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6460077"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6825741"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Our Solution</a:t>
            </a:r>
            <a:endParaRPr lang="en-US" sz="1866" dirty="0">
              <a:latin typeface="Times New Roman" panose="02020603050405020304" pitchFamily="18" charset="0"/>
              <a:cs typeface="Times New Roman" panose="02020603050405020304" pitchFamily="18" charset="0"/>
            </a:endParaRPr>
          </a:p>
        </p:txBody>
      </p:sp>
      <p:sp>
        <p:nvSpPr>
          <p:cNvPr id="8" name="Text 6"/>
          <p:cNvSpPr/>
          <p:nvPr/>
        </p:nvSpPr>
        <p:spPr>
          <a:xfrm>
            <a:off x="6825741"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Conversational AI answers any World Cup question via RAG</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Data-driven predictions with computed statistical factors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All numbers from code -- LLM never invents statistics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Confidence and limitations stated with every response</a:t>
            </a:r>
            <a:endParaRPr lang="en-US"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C66E68D2-F146-CBBC-EC6C-52AEDC608965}"/>
              </a:ext>
            </a:extLst>
          </p:cNvPr>
          <p:cNvSpPr/>
          <p:nvPr/>
        </p:nvSpPr>
        <p:spPr>
          <a:xfrm>
            <a:off x="0" y="-588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ext 0"/>
          <p:cNvSpPr/>
          <p:nvPr/>
        </p:nvSpPr>
        <p:spPr>
          <a:xfrm>
            <a:off x="304720" y="131375"/>
            <a:ext cx="7531590" cy="731330"/>
          </a:xfrm>
          <a:prstGeom prst="rect">
            <a:avLst/>
          </a:prstGeom>
          <a:noFill/>
          <a:ln/>
        </p:spPr>
        <p:txBody>
          <a:bodyPr wrap="square" lIns="0" tIns="0" rIns="0" bIns="0" rtlCol="0" anchor="ctr"/>
          <a:lstStyle/>
          <a:p>
            <a:r>
              <a:rPr lang="en-US" sz="3732" b="1" dirty="0">
                <a:solidFill>
                  <a:schemeClr val="bg1"/>
                </a:solidFill>
                <a:latin typeface="Times New Roman" panose="02020603050405020304" pitchFamily="18" charset="0"/>
                <a:ea typeface="Georgia" pitchFamily="34" charset="-122"/>
                <a:cs typeface="Times New Roman" panose="02020603050405020304" pitchFamily="18" charset="0"/>
              </a:rPr>
              <a:t>The Problem We are Solving</a:t>
            </a:r>
            <a:endParaRPr lang="en-US" sz="3732"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071E555-5AD2-8098-D354-0109FF6E3FCA}"/>
              </a:ext>
            </a:extLst>
          </p:cNvPr>
          <p:cNvSpPr/>
          <p:nvPr/>
        </p:nvSpPr>
        <p:spPr>
          <a:xfrm>
            <a:off x="328986" y="1083782"/>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nvGraphicFramePr>
        <p:xfrm>
          <a:off x="609441" y="1829217"/>
          <a:ext cx="10969943" cy="2133045"/>
        </p:xfrm>
        <a:graphic>
          <a:graphicData uri="http://schemas.openxmlformats.org/drawingml/2006/table">
            <a:tbl>
              <a:tblPr/>
              <a:tblGrid>
                <a:gridCol w="2681542">
                  <a:extLst>
                    <a:ext uri="{9D8B030D-6E8A-4147-A177-3AD203B41FA5}">
                      <a16:colId xmlns:a16="http://schemas.microsoft.com/office/drawing/2014/main" val="20000"/>
                    </a:ext>
                  </a:extLst>
                </a:gridCol>
                <a:gridCol w="1462659">
                  <a:extLst>
                    <a:ext uri="{9D8B030D-6E8A-4147-A177-3AD203B41FA5}">
                      <a16:colId xmlns:a16="http://schemas.microsoft.com/office/drawing/2014/main" val="20001"/>
                    </a:ext>
                  </a:extLst>
                </a:gridCol>
                <a:gridCol w="6825742">
                  <a:extLst>
                    <a:ext uri="{9D8B030D-6E8A-4147-A177-3AD203B41FA5}">
                      <a16:colId xmlns:a16="http://schemas.microsoft.com/office/drawing/2014/main" val="20002"/>
                    </a:ext>
                  </a:extLst>
                </a:gridCol>
              </a:tblGrid>
              <a:tr h="426609">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File</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Rows</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Description</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0"/>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results.csv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49,071</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International match results (1872-2026)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1"/>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goalscorers.csv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47,555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Individual goal records with minute and type</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2"/>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shootouts.csv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665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Penalty shootout outcomes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3"/>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former_names.csv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Historical team name mappings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4"/>
                  </a:ext>
                </a:extLst>
              </a:tr>
            </a:tbl>
          </a:graphicData>
        </a:graphic>
      </p:graphicFrame>
      <p:sp>
        <p:nvSpPr>
          <p:cNvPr id="5" name="Shape 2"/>
          <p:cNvSpPr/>
          <p:nvPr/>
        </p:nvSpPr>
        <p:spPr>
          <a:xfrm>
            <a:off x="609441"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3"/>
          <p:cNvSpPr/>
          <p:nvPr/>
        </p:nvSpPr>
        <p:spPr>
          <a:xfrm>
            <a:off x="853217"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Preprocessing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Zero nulls, zero duplicates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Date parsing, 36 team name mappings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Result and TotalGoals derived</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964 World Cup matches filtered</a:t>
            </a:r>
            <a:endParaRPr lang="en-US" sz="1733" dirty="0">
              <a:latin typeface="Times New Roman" panose="02020603050405020304" pitchFamily="18" charset="0"/>
              <a:cs typeface="Times New Roman" panose="02020603050405020304" pitchFamily="18" charset="0"/>
            </a:endParaRPr>
          </a:p>
        </p:txBody>
      </p:sp>
      <p:sp>
        <p:nvSpPr>
          <p:cNvPr id="7" name="Shape 4"/>
          <p:cNvSpPr/>
          <p:nvPr/>
        </p:nvSpPr>
        <p:spPr>
          <a:xfrm>
            <a:off x="6460077"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5"/>
          <p:cNvSpPr/>
          <p:nvPr/>
        </p:nvSpPr>
        <p:spPr>
          <a:xfrm>
            <a:off x="6703853"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Key Advantage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Covers ALL international matches.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Enables meaningful recent form</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from actual recent matches.</a:t>
            </a:r>
            <a:endParaRPr lang="en-US" sz="1733"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FB042A6-A43E-8000-7D01-1F1258BC6EF9}"/>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578B59B-EEA0-3DB0-70D4-22A13CE2A21D}"/>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Our Data</a:t>
            </a:r>
          </a:p>
        </p:txBody>
      </p:sp>
      <p:sp>
        <p:nvSpPr>
          <p:cNvPr id="2" name="TextBox 1">
            <a:extLst>
              <a:ext uri="{FF2B5EF4-FFF2-40B4-BE49-F238E27FC236}">
                <a16:creationId xmlns:a16="http://schemas.microsoft.com/office/drawing/2014/main" id="{FF5D122F-4080-EA3D-287A-482347A4180C}"/>
              </a:ext>
            </a:extLst>
          </p:cNvPr>
          <p:cNvSpPr txBox="1"/>
          <p:nvPr/>
        </p:nvSpPr>
        <p:spPr>
          <a:xfrm>
            <a:off x="609441" y="1307787"/>
            <a:ext cx="10864804" cy="369332"/>
          </a:xfrm>
          <a:prstGeom prst="rect">
            <a:avLst/>
          </a:prstGeom>
          <a:noFill/>
        </p:spPr>
        <p:txBody>
          <a:bodyPr wrap="square" rtlCol="0">
            <a:spAutoFit/>
          </a:bodyPr>
          <a:lstStyle/>
          <a:p>
            <a:r>
              <a:rPr lang="en-US" dirty="0">
                <a:hlinkClick r:id="rId3"/>
              </a:rPr>
              <a:t>Link: https://www.kaggle.com/datasets/martj42/international-football-results-from-1872-to-2017</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Data Pipeline</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p:cNvSpPr txBox="1"/>
          <p:nvPr/>
        </p:nvSpPr>
        <p:spPr>
          <a:xfrm>
            <a:off x="2468879" y="2258568"/>
            <a:ext cx="822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Rows</a:t>
            </a:r>
          </a:p>
        </p:txBody>
      </p:sp>
      <p:sp>
        <p:nvSpPr>
          <p:cNvPr id="11" name="TextBox 10"/>
          <p:cNvSpPr txBox="1"/>
          <p:nvPr/>
        </p:nvSpPr>
        <p:spPr>
          <a:xfrm>
            <a:off x="3474720" y="2258568"/>
            <a:ext cx="3108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What it contains</a:t>
            </a:r>
          </a:p>
        </p:txBody>
      </p:sp>
      <p:sp>
        <p:nvSpPr>
          <p:cNvPr id="31" name="Rectangle 30"/>
          <p:cNvSpPr/>
          <p:nvPr/>
        </p:nvSpPr>
        <p:spPr>
          <a:xfrm>
            <a:off x="218661" y="1143000"/>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365760" y="1188720"/>
            <a:ext cx="11384280" cy="338554"/>
          </a:xfrm>
          <a:prstGeom prst="rect">
            <a:avLst/>
          </a:prstGeom>
          <a:noFill/>
        </p:spPr>
        <p:txBody>
          <a:bodyPr wrap="square">
            <a:spAutoFit/>
          </a:bodyPr>
          <a:lstStyle/>
          <a:p>
            <a:pPr algn="l"/>
            <a:r>
              <a:rPr sz="1600" b="1" i="0" dirty="0">
                <a:solidFill>
                  <a:srgbClr val="0D2B55"/>
                </a:solidFill>
                <a:latin typeface="Times New Roman" panose="02020603050405020304" pitchFamily="18" charset="0"/>
                <a:cs typeface="Times New Roman" panose="02020603050405020304" pitchFamily="18" charset="0"/>
              </a:rPr>
              <a:t>6-Stage Data Pipeline</a:t>
            </a:r>
          </a:p>
        </p:txBody>
      </p:sp>
      <p:sp>
        <p:nvSpPr>
          <p:cNvPr id="33" name="Rectangle 32"/>
          <p:cNvSpPr/>
          <p:nvPr/>
        </p:nvSpPr>
        <p:spPr>
          <a:xfrm flipV="1">
            <a:off x="347868" y="1609343"/>
            <a:ext cx="11257059" cy="45719"/>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4" name="Group 63">
            <a:extLst>
              <a:ext uri="{FF2B5EF4-FFF2-40B4-BE49-F238E27FC236}">
                <a16:creationId xmlns:a16="http://schemas.microsoft.com/office/drawing/2014/main" id="{640BB66F-9317-4F6C-579E-994C7E6C2C64}"/>
              </a:ext>
            </a:extLst>
          </p:cNvPr>
          <p:cNvGrpSpPr/>
          <p:nvPr/>
        </p:nvGrpSpPr>
        <p:grpSpPr>
          <a:xfrm>
            <a:off x="374109" y="1691640"/>
            <a:ext cx="11257059" cy="4484132"/>
            <a:chOff x="6995160" y="1691640"/>
            <a:chExt cx="4636008" cy="4484132"/>
          </a:xfrm>
        </p:grpSpPr>
        <p:sp>
          <p:nvSpPr>
            <p:cNvPr id="34" name="Rectangle 33"/>
            <p:cNvSpPr/>
            <p:nvPr/>
          </p:nvSpPr>
          <p:spPr>
            <a:xfrm>
              <a:off x="6995160" y="1691640"/>
              <a:ext cx="502920" cy="62179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6995160" y="178308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1</a:t>
              </a:r>
            </a:p>
          </p:txBody>
        </p:sp>
        <p:sp>
          <p:nvSpPr>
            <p:cNvPr id="36" name="TextBox 35"/>
            <p:cNvSpPr txBox="1"/>
            <p:nvPr/>
          </p:nvSpPr>
          <p:spPr>
            <a:xfrm>
              <a:off x="7562088" y="1728216"/>
              <a:ext cx="4069080" cy="369332"/>
            </a:xfrm>
            <a:prstGeom prst="rect">
              <a:avLst/>
            </a:prstGeom>
            <a:noFill/>
          </p:spPr>
          <p:txBody>
            <a:bodyPr wrap="square">
              <a:spAutoFit/>
            </a:bodyPr>
            <a:lstStyle/>
            <a:p>
              <a:pPr algn="l"/>
              <a:r>
                <a:rPr b="1" i="0" dirty="0" err="1">
                  <a:solidFill>
                    <a:srgbClr val="0D2B55"/>
                  </a:solidFill>
                  <a:latin typeface="Times New Roman" panose="02020603050405020304" pitchFamily="18" charset="0"/>
                  <a:cs typeface="Times New Roman" panose="02020603050405020304" pitchFamily="18" charset="0"/>
                </a:rPr>
                <a:t>dataset_discovery_tool</a:t>
              </a:r>
              <a:endParaRPr b="1" i="0" dirty="0">
                <a:solidFill>
                  <a:srgbClr val="0D2B55"/>
                </a:solidFill>
                <a:latin typeface="Times New Roman" panose="02020603050405020304" pitchFamily="18" charset="0"/>
                <a:cs typeface="Times New Roman" panose="02020603050405020304" pitchFamily="18" charset="0"/>
              </a:endParaRPr>
            </a:p>
          </p:txBody>
        </p:sp>
        <p:sp>
          <p:nvSpPr>
            <p:cNvPr id="37" name="TextBox 36"/>
            <p:cNvSpPr txBox="1"/>
            <p:nvPr/>
          </p:nvSpPr>
          <p:spPr>
            <a:xfrm>
              <a:off x="7562088" y="201168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Catalogs &amp; validates all CSV files</a:t>
              </a:r>
            </a:p>
          </p:txBody>
        </p:sp>
        <p:sp>
          <p:nvSpPr>
            <p:cNvPr id="38" name="TextBox 37"/>
            <p:cNvSpPr txBox="1"/>
            <p:nvPr/>
          </p:nvSpPr>
          <p:spPr>
            <a:xfrm>
              <a:off x="7196328" y="2258568"/>
              <a:ext cx="274320" cy="369332"/>
            </a:xfrm>
            <a:prstGeom prst="rect">
              <a:avLst/>
            </a:prstGeom>
            <a:noFill/>
          </p:spPr>
          <p:txBody>
            <a:bodyPr wrap="square">
              <a:spAutoFit/>
            </a:bodyPr>
            <a:lstStyle/>
            <a:p>
              <a:pPr algn="ctr"/>
              <a:r>
                <a:rPr b="0" i="0">
                  <a:solidFill>
                    <a:srgbClr val="007A33"/>
                  </a:solidFill>
                  <a:latin typeface="Times New Roman" panose="02020603050405020304" pitchFamily="18" charset="0"/>
                  <a:cs typeface="Times New Roman" panose="02020603050405020304" pitchFamily="18" charset="0"/>
                </a:rPr>
                <a:t>↓</a:t>
              </a:r>
            </a:p>
          </p:txBody>
        </p:sp>
        <p:sp>
          <p:nvSpPr>
            <p:cNvPr id="39" name="Rectangle 38"/>
            <p:cNvSpPr/>
            <p:nvPr/>
          </p:nvSpPr>
          <p:spPr>
            <a:xfrm>
              <a:off x="6995160" y="2450592"/>
              <a:ext cx="502920" cy="62179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6995160" y="2542032"/>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2</a:t>
              </a:r>
            </a:p>
          </p:txBody>
        </p:sp>
        <p:sp>
          <p:nvSpPr>
            <p:cNvPr id="41" name="TextBox 40"/>
            <p:cNvSpPr txBox="1"/>
            <p:nvPr/>
          </p:nvSpPr>
          <p:spPr>
            <a:xfrm>
              <a:off x="7562088" y="2487168"/>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data_ingestion_tool</a:t>
              </a:r>
            </a:p>
          </p:txBody>
        </p:sp>
        <p:sp>
          <p:nvSpPr>
            <p:cNvPr id="42" name="TextBox 41"/>
            <p:cNvSpPr txBox="1"/>
            <p:nvPr/>
          </p:nvSpPr>
          <p:spPr>
            <a:xfrm>
              <a:off x="7562088" y="2770632"/>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Loads all 4 CSVs into DataFrames</a:t>
              </a:r>
            </a:p>
          </p:txBody>
        </p:sp>
        <p:sp>
          <p:nvSpPr>
            <p:cNvPr id="43" name="TextBox 42"/>
            <p:cNvSpPr txBox="1"/>
            <p:nvPr/>
          </p:nvSpPr>
          <p:spPr>
            <a:xfrm>
              <a:off x="7196328" y="3017520"/>
              <a:ext cx="274320" cy="369332"/>
            </a:xfrm>
            <a:prstGeom prst="rect">
              <a:avLst/>
            </a:prstGeom>
            <a:noFill/>
          </p:spPr>
          <p:txBody>
            <a:bodyPr wrap="square">
              <a:spAutoFit/>
            </a:bodyPr>
            <a:lstStyle/>
            <a:p>
              <a:pPr algn="ctr"/>
              <a:r>
                <a:rPr b="0" i="0">
                  <a:solidFill>
                    <a:srgbClr val="007A87"/>
                  </a:solidFill>
                  <a:latin typeface="Times New Roman" panose="02020603050405020304" pitchFamily="18" charset="0"/>
                  <a:cs typeface="Times New Roman" panose="02020603050405020304" pitchFamily="18" charset="0"/>
                </a:rPr>
                <a:t>↓</a:t>
              </a:r>
            </a:p>
          </p:txBody>
        </p:sp>
        <p:sp>
          <p:nvSpPr>
            <p:cNvPr id="44" name="Rectangle 43"/>
            <p:cNvSpPr/>
            <p:nvPr/>
          </p:nvSpPr>
          <p:spPr>
            <a:xfrm>
              <a:off x="6995160" y="3209544"/>
              <a:ext cx="502920" cy="621792"/>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6995160" y="3300984"/>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3</a:t>
              </a:r>
            </a:p>
          </p:txBody>
        </p:sp>
        <p:sp>
          <p:nvSpPr>
            <p:cNvPr id="46" name="TextBox 45"/>
            <p:cNvSpPr txBox="1"/>
            <p:nvPr/>
          </p:nvSpPr>
          <p:spPr>
            <a:xfrm>
              <a:off x="7562088" y="3246120"/>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data_validation_tool</a:t>
              </a:r>
            </a:p>
          </p:txBody>
        </p:sp>
        <p:sp>
          <p:nvSpPr>
            <p:cNvPr id="47" name="TextBox 46"/>
            <p:cNvSpPr txBox="1"/>
            <p:nvPr/>
          </p:nvSpPr>
          <p:spPr>
            <a:xfrm>
              <a:off x="7562088" y="3529584"/>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Zero nulls, zero duplicates confirmed</a:t>
              </a:r>
            </a:p>
          </p:txBody>
        </p:sp>
        <p:sp>
          <p:nvSpPr>
            <p:cNvPr id="48" name="TextBox 47"/>
            <p:cNvSpPr txBox="1"/>
            <p:nvPr/>
          </p:nvSpPr>
          <p:spPr>
            <a:xfrm>
              <a:off x="7196328" y="3776472"/>
              <a:ext cx="274320" cy="369332"/>
            </a:xfrm>
            <a:prstGeom prst="rect">
              <a:avLst/>
            </a:prstGeom>
            <a:noFill/>
          </p:spPr>
          <p:txBody>
            <a:bodyPr wrap="square">
              <a:spAutoFit/>
            </a:bodyPr>
            <a:lstStyle/>
            <a:p>
              <a:pPr algn="ctr"/>
              <a:r>
                <a:rPr b="0" i="0">
                  <a:solidFill>
                    <a:srgbClr val="1A4A8A"/>
                  </a:solidFill>
                  <a:latin typeface="Times New Roman" panose="02020603050405020304" pitchFamily="18" charset="0"/>
                  <a:cs typeface="Times New Roman" panose="02020603050405020304" pitchFamily="18" charset="0"/>
                </a:rPr>
                <a:t>↓</a:t>
              </a:r>
            </a:p>
          </p:txBody>
        </p:sp>
        <p:sp>
          <p:nvSpPr>
            <p:cNvPr id="49" name="Rectangle 48"/>
            <p:cNvSpPr/>
            <p:nvPr/>
          </p:nvSpPr>
          <p:spPr>
            <a:xfrm>
              <a:off x="6995160" y="3968496"/>
              <a:ext cx="502920" cy="62179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TextBox 49"/>
            <p:cNvSpPr txBox="1"/>
            <p:nvPr/>
          </p:nvSpPr>
          <p:spPr>
            <a:xfrm>
              <a:off x="6995160" y="4059935"/>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4</a:t>
              </a:r>
            </a:p>
          </p:txBody>
        </p:sp>
        <p:sp>
          <p:nvSpPr>
            <p:cNvPr id="51" name="TextBox 50"/>
            <p:cNvSpPr txBox="1"/>
            <p:nvPr/>
          </p:nvSpPr>
          <p:spPr>
            <a:xfrm>
              <a:off x="7562088" y="4005072"/>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preprocessing_tool</a:t>
              </a:r>
            </a:p>
          </p:txBody>
        </p:sp>
        <p:sp>
          <p:nvSpPr>
            <p:cNvPr id="52" name="TextBox 51"/>
            <p:cNvSpPr txBox="1"/>
            <p:nvPr/>
          </p:nvSpPr>
          <p:spPr>
            <a:xfrm>
              <a:off x="7562088" y="4288536"/>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Date parse, name normalization, WC filter</a:t>
              </a:r>
            </a:p>
          </p:txBody>
        </p:sp>
        <p:sp>
          <p:nvSpPr>
            <p:cNvPr id="53" name="TextBox 52"/>
            <p:cNvSpPr txBox="1"/>
            <p:nvPr/>
          </p:nvSpPr>
          <p:spPr>
            <a:xfrm>
              <a:off x="7196328" y="4535424"/>
              <a:ext cx="274320" cy="369332"/>
            </a:xfrm>
            <a:prstGeom prst="rect">
              <a:avLst/>
            </a:prstGeom>
            <a:noFill/>
          </p:spPr>
          <p:txBody>
            <a:bodyPr wrap="square">
              <a:spAutoFit/>
            </a:bodyPr>
            <a:lstStyle/>
            <a:p>
              <a:pPr algn="ctr"/>
              <a:r>
                <a:rPr b="0" i="0">
                  <a:solidFill>
                    <a:srgbClr val="0D2B55"/>
                  </a:solidFill>
                  <a:latin typeface="Times New Roman" panose="02020603050405020304" pitchFamily="18" charset="0"/>
                  <a:cs typeface="Times New Roman" panose="02020603050405020304" pitchFamily="18" charset="0"/>
                </a:rPr>
                <a:t>↓</a:t>
              </a:r>
            </a:p>
          </p:txBody>
        </p:sp>
        <p:sp>
          <p:nvSpPr>
            <p:cNvPr id="54" name="Rectangle 53"/>
            <p:cNvSpPr/>
            <p:nvPr/>
          </p:nvSpPr>
          <p:spPr>
            <a:xfrm>
              <a:off x="6995160" y="4727448"/>
              <a:ext cx="502920" cy="621792"/>
            </a:xfrm>
            <a:prstGeom prst="rect">
              <a:avLst/>
            </a:prstGeom>
            <a:solidFill>
              <a:srgbClr val="5A2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TextBox 54"/>
            <p:cNvSpPr txBox="1"/>
            <p:nvPr/>
          </p:nvSpPr>
          <p:spPr>
            <a:xfrm>
              <a:off x="6995160" y="4818888"/>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5</a:t>
              </a:r>
            </a:p>
          </p:txBody>
        </p:sp>
        <p:sp>
          <p:nvSpPr>
            <p:cNvPr id="56" name="TextBox 55"/>
            <p:cNvSpPr txBox="1"/>
            <p:nvPr/>
          </p:nvSpPr>
          <p:spPr>
            <a:xfrm>
              <a:off x="7562088" y="4764024"/>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eda_visualization_tool</a:t>
              </a:r>
            </a:p>
          </p:txBody>
        </p:sp>
        <p:sp>
          <p:nvSpPr>
            <p:cNvPr id="57" name="TextBox 56"/>
            <p:cNvSpPr txBox="1"/>
            <p:nvPr/>
          </p:nvSpPr>
          <p:spPr>
            <a:xfrm>
              <a:off x="7562088" y="5047488"/>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10+ EDA charts generated</a:t>
              </a:r>
            </a:p>
          </p:txBody>
        </p:sp>
        <p:sp>
          <p:nvSpPr>
            <p:cNvPr id="58" name="TextBox 57"/>
            <p:cNvSpPr txBox="1"/>
            <p:nvPr/>
          </p:nvSpPr>
          <p:spPr>
            <a:xfrm>
              <a:off x="7196328" y="5294376"/>
              <a:ext cx="274320" cy="369332"/>
            </a:xfrm>
            <a:prstGeom prst="rect">
              <a:avLst/>
            </a:prstGeom>
            <a:noFill/>
          </p:spPr>
          <p:txBody>
            <a:bodyPr wrap="square">
              <a:spAutoFit/>
            </a:bodyPr>
            <a:lstStyle/>
            <a:p>
              <a:pPr algn="ctr"/>
              <a:r>
                <a:rPr b="0" i="0">
                  <a:solidFill>
                    <a:srgbClr val="5A2D82"/>
                  </a:solidFill>
                  <a:latin typeface="Times New Roman" panose="02020603050405020304" pitchFamily="18" charset="0"/>
                  <a:cs typeface="Times New Roman" panose="02020603050405020304" pitchFamily="18" charset="0"/>
                </a:rPr>
                <a:t>↓</a:t>
              </a:r>
            </a:p>
          </p:txBody>
        </p:sp>
        <p:sp>
          <p:nvSpPr>
            <p:cNvPr id="59" name="Rectangle 58"/>
            <p:cNvSpPr/>
            <p:nvPr/>
          </p:nvSpPr>
          <p:spPr>
            <a:xfrm>
              <a:off x="6995160" y="5486400"/>
              <a:ext cx="502920" cy="621792"/>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0" name="TextBox 59"/>
            <p:cNvSpPr txBox="1"/>
            <p:nvPr/>
          </p:nvSpPr>
          <p:spPr>
            <a:xfrm>
              <a:off x="6995160" y="557784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6</a:t>
              </a:r>
            </a:p>
          </p:txBody>
        </p:sp>
        <p:sp>
          <p:nvSpPr>
            <p:cNvPr id="61" name="TextBox 60"/>
            <p:cNvSpPr txBox="1"/>
            <p:nvPr/>
          </p:nvSpPr>
          <p:spPr>
            <a:xfrm>
              <a:off x="7562088" y="5522976"/>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vector_store_builder</a:t>
              </a:r>
            </a:p>
          </p:txBody>
        </p:sp>
        <p:sp>
          <p:nvSpPr>
            <p:cNvPr id="62" name="TextBox 61"/>
            <p:cNvSpPr txBox="1"/>
            <p:nvPr/>
          </p:nvSpPr>
          <p:spPr>
            <a:xfrm>
              <a:off x="7562088" y="580644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FAISS index with OpenAI embeddings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33E1-10E4-7149-090B-A706049264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C0C0F-8AB6-060F-B781-5C1682ADB8F6}"/>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B851A95-81DB-EE76-E336-2D9E42A592BE}"/>
              </a:ext>
            </a:extLst>
          </p:cNvPr>
          <p:cNvSpPr txBox="1"/>
          <p:nvPr/>
        </p:nvSpPr>
        <p:spPr>
          <a:xfrm>
            <a:off x="365760" y="164592"/>
            <a:ext cx="10972800" cy="553998"/>
          </a:xfrm>
          <a:prstGeom prst="rect">
            <a:avLst/>
          </a:prstGeom>
          <a:noFill/>
        </p:spPr>
        <p:txBody>
          <a:bodyPr wrap="square">
            <a:spAutoFit/>
          </a:bodyPr>
          <a:lstStyle/>
          <a:p>
            <a:pPr algn="l"/>
            <a:r>
              <a:rPr lang="en-IN" sz="3000" b="1" dirty="0">
                <a:solidFill>
                  <a:srgbClr val="FFFFFF"/>
                </a:solidFill>
                <a:latin typeface="Times New Roman" panose="02020603050405020304" pitchFamily="18" charset="0"/>
                <a:cs typeface="Times New Roman" panose="02020603050405020304" pitchFamily="18" charset="0"/>
              </a:rPr>
              <a:t>System</a:t>
            </a:r>
            <a:r>
              <a:rPr lang="en-IN" sz="3000" b="1" i="0" dirty="0">
                <a:solidFill>
                  <a:srgbClr val="FFFFFF"/>
                </a:solidFill>
                <a:latin typeface="Times New Roman" panose="02020603050405020304" pitchFamily="18" charset="0"/>
                <a:cs typeface="Times New Roman" panose="02020603050405020304" pitchFamily="18" charset="0"/>
              </a:rPr>
              <a:t> </a:t>
            </a:r>
            <a:r>
              <a:rPr lang="en-IN" sz="3000" b="1" dirty="0">
                <a:solidFill>
                  <a:srgbClr val="FFFFFF"/>
                </a:solidFill>
                <a:latin typeface="Times New Roman" panose="02020603050405020304" pitchFamily="18" charset="0"/>
                <a:cs typeface="Times New Roman" panose="02020603050405020304" pitchFamily="18" charset="0"/>
              </a:rPr>
              <a:t>Architecture</a:t>
            </a:r>
            <a:endParaRPr lang="en-IN" sz="3000" b="1" i="0" dirty="0">
              <a:solidFill>
                <a:srgbClr val="FFFFFF"/>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4A18BD0-995A-1364-C522-A227C510D4D6}"/>
              </a:ext>
            </a:extLst>
          </p:cNvPr>
          <p:cNvPicPr>
            <a:picLocks noChangeAspect="1"/>
          </p:cNvPicPr>
          <p:nvPr/>
        </p:nvPicPr>
        <p:blipFill>
          <a:blip r:embed="rId3"/>
          <a:srcRect l="1378" t="2779" r="2238" b="3873"/>
          <a:stretch>
            <a:fillRect/>
          </a:stretch>
        </p:blipFill>
        <p:spPr>
          <a:xfrm>
            <a:off x="974257" y="1112136"/>
            <a:ext cx="10188324" cy="5581272"/>
          </a:xfrm>
          <a:prstGeom prst="rect">
            <a:avLst/>
          </a:prstGeom>
        </p:spPr>
      </p:pic>
    </p:spTree>
    <p:extLst>
      <p:ext uri="{BB962C8B-B14F-4D97-AF65-F5344CB8AC3E}">
        <p14:creationId xmlns:p14="http://schemas.microsoft.com/office/powerpoint/2010/main" val="289906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5" name="Image 0" descr="preencoded.png">
            <a:extLst>
              <a:ext uri="{FF2B5EF4-FFF2-40B4-BE49-F238E27FC236}">
                <a16:creationId xmlns:a16="http://schemas.microsoft.com/office/drawing/2014/main" id="{E0716BB4-4CFC-569C-AA29-1BA20A17F4E8}"/>
              </a:ext>
            </a:extLst>
          </p:cNvPr>
          <p:cNvPicPr>
            <a:picLocks noChangeAspect="1"/>
          </p:cNvPicPr>
          <p:nvPr/>
        </p:nvPicPr>
        <p:blipFill>
          <a:blip r:embed="rId3"/>
          <a:stretch>
            <a:fillRect/>
          </a:stretch>
        </p:blipFill>
        <p:spPr>
          <a:xfrm>
            <a:off x="365760" y="1142487"/>
            <a:ext cx="5551213" cy="2374805"/>
          </a:xfrm>
          <a:prstGeom prst="rect">
            <a:avLst/>
          </a:prstGeom>
        </p:spPr>
      </p:pic>
      <p:pic>
        <p:nvPicPr>
          <p:cNvPr id="66" name="Image 1" descr="preencoded.png">
            <a:extLst>
              <a:ext uri="{FF2B5EF4-FFF2-40B4-BE49-F238E27FC236}">
                <a16:creationId xmlns:a16="http://schemas.microsoft.com/office/drawing/2014/main" id="{3AC36093-F8F8-AA5A-9A02-31CBE6923E96}"/>
              </a:ext>
            </a:extLst>
          </p:cNvPr>
          <p:cNvPicPr>
            <a:picLocks noChangeAspect="1"/>
          </p:cNvPicPr>
          <p:nvPr/>
        </p:nvPicPr>
        <p:blipFill>
          <a:blip r:embed="rId4"/>
          <a:stretch>
            <a:fillRect/>
          </a:stretch>
        </p:blipFill>
        <p:spPr>
          <a:xfrm>
            <a:off x="6061944" y="1118310"/>
            <a:ext cx="5486277" cy="2423159"/>
          </a:xfrm>
          <a:prstGeom prst="rect">
            <a:avLst/>
          </a:prstGeom>
        </p:spPr>
      </p:pic>
      <p:pic>
        <p:nvPicPr>
          <p:cNvPr id="67" name="Image 2" descr="preencoded.png">
            <a:extLst>
              <a:ext uri="{FF2B5EF4-FFF2-40B4-BE49-F238E27FC236}">
                <a16:creationId xmlns:a16="http://schemas.microsoft.com/office/drawing/2014/main" id="{AD10A214-CCFC-C439-CADC-1A347D4EB30F}"/>
              </a:ext>
            </a:extLst>
          </p:cNvPr>
          <p:cNvPicPr>
            <a:picLocks noChangeAspect="1"/>
          </p:cNvPicPr>
          <p:nvPr/>
        </p:nvPicPr>
        <p:blipFill>
          <a:blip r:embed="rId5"/>
          <a:stretch>
            <a:fillRect/>
          </a:stretch>
        </p:blipFill>
        <p:spPr>
          <a:xfrm>
            <a:off x="365760" y="3611880"/>
            <a:ext cx="5551213" cy="2896285"/>
          </a:xfrm>
          <a:prstGeom prst="rect">
            <a:avLst/>
          </a:prstGeom>
        </p:spPr>
      </p:pic>
      <p:pic>
        <p:nvPicPr>
          <p:cNvPr id="68" name="Image 3" descr="preencoded.png">
            <a:extLst>
              <a:ext uri="{FF2B5EF4-FFF2-40B4-BE49-F238E27FC236}">
                <a16:creationId xmlns:a16="http://schemas.microsoft.com/office/drawing/2014/main" id="{9387CB72-CE58-C8D8-4606-83143BB2F582}"/>
              </a:ext>
            </a:extLst>
          </p:cNvPr>
          <p:cNvPicPr>
            <a:picLocks noChangeAspect="1"/>
          </p:cNvPicPr>
          <p:nvPr/>
        </p:nvPicPr>
        <p:blipFill>
          <a:blip r:embed="rId6"/>
          <a:stretch>
            <a:fillRect/>
          </a:stretch>
        </p:blipFill>
        <p:spPr>
          <a:xfrm>
            <a:off x="6029476" y="3611879"/>
            <a:ext cx="5551213" cy="2896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678C-BDD0-E8B2-70B7-A64EE070C5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6D82CE-4DA7-CA81-27D0-FD4BF1FC0030}"/>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80D384-BFFC-876A-C076-09977049FA26}"/>
              </a:ext>
            </a:extLst>
          </p:cNvPr>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a:extLst>
              <a:ext uri="{FF2B5EF4-FFF2-40B4-BE49-F238E27FC236}">
                <a16:creationId xmlns:a16="http://schemas.microsoft.com/office/drawing/2014/main" id="{9E2D5BA9-47E8-D8FB-8D75-81A9ED31C588}"/>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6AA88584-6E1D-D9D8-6A0A-B208C7D75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 y="1543756"/>
            <a:ext cx="11363765" cy="4308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97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6B357-623D-7F7A-5FEB-8C64E252D8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CBE6B7-4564-5E8A-DEF5-563046DA36B1}"/>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E8C8DE6-055D-747D-E0CB-618599E51C53}"/>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Match Prediction Engine</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220AE49-3423-A448-2A1E-678B572E0303}"/>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D6F7EC5C-D9D0-A54A-4651-F2EBA3279FEB}"/>
              </a:ext>
            </a:extLst>
          </p:cNvPr>
          <p:cNvGrpSpPr/>
          <p:nvPr/>
        </p:nvGrpSpPr>
        <p:grpSpPr>
          <a:xfrm>
            <a:off x="365759" y="1623749"/>
            <a:ext cx="11324795" cy="4056939"/>
            <a:chOff x="1751012" y="2171700"/>
            <a:chExt cx="8686800" cy="2514600"/>
          </a:xfrm>
        </p:grpSpPr>
        <p:sp>
          <p:nvSpPr>
            <p:cNvPr id="27" name="Shape 4">
              <a:extLst>
                <a:ext uri="{FF2B5EF4-FFF2-40B4-BE49-F238E27FC236}">
                  <a16:creationId xmlns:a16="http://schemas.microsoft.com/office/drawing/2014/main" id="{916416F0-EC29-805F-31FA-869329B24F6F}"/>
                </a:ext>
              </a:extLst>
            </p:cNvPr>
            <p:cNvSpPr/>
            <p:nvPr/>
          </p:nvSpPr>
          <p:spPr>
            <a:xfrm>
              <a:off x="1751012" y="2171700"/>
              <a:ext cx="2743200" cy="1143000"/>
            </a:xfrm>
            <a:prstGeom prst="rect">
              <a:avLst/>
            </a:prstGeom>
            <a:solidFill>
              <a:srgbClr val="0D2137"/>
            </a:solidFill>
            <a:ln w="19050">
              <a:solidFill>
                <a:srgbClr val="0EA5A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28" name="Shape 5">
              <a:extLst>
                <a:ext uri="{FF2B5EF4-FFF2-40B4-BE49-F238E27FC236}">
                  <a16:creationId xmlns:a16="http://schemas.microsoft.com/office/drawing/2014/main" id="{7CE30CEF-3085-B759-192E-DF3D7337D9D5}"/>
                </a:ext>
              </a:extLst>
            </p:cNvPr>
            <p:cNvSpPr/>
            <p:nvPr/>
          </p:nvSpPr>
          <p:spPr>
            <a:xfrm>
              <a:off x="3899852" y="2281428"/>
              <a:ext cx="457200" cy="457200"/>
            </a:xfrm>
            <a:prstGeom prst="ellipse">
              <a:avLst/>
            </a:prstGeom>
            <a:solidFill>
              <a:srgbClr val="0EA5A0"/>
            </a:solidFill>
            <a:ln w="12700">
              <a:solidFill>
                <a:srgbClr val="0EA5A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29" name="Text 6">
              <a:extLst>
                <a:ext uri="{FF2B5EF4-FFF2-40B4-BE49-F238E27FC236}">
                  <a16:creationId xmlns:a16="http://schemas.microsoft.com/office/drawing/2014/main" id="{6321F1D7-5854-A694-CF6B-2226151E5B6E}"/>
                </a:ext>
              </a:extLst>
            </p:cNvPr>
            <p:cNvSpPr/>
            <p:nvPr/>
          </p:nvSpPr>
          <p:spPr>
            <a:xfrm>
              <a:off x="38998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30" name="Text 7">
              <a:extLst>
                <a:ext uri="{FF2B5EF4-FFF2-40B4-BE49-F238E27FC236}">
                  <a16:creationId xmlns:a16="http://schemas.microsoft.com/office/drawing/2014/main" id="{BB1746DE-AA96-6691-6CFB-1FF9A4620D33}"/>
                </a:ext>
              </a:extLst>
            </p:cNvPr>
            <p:cNvSpPr/>
            <p:nvPr/>
          </p:nvSpPr>
          <p:spPr>
            <a:xfrm>
              <a:off x="18881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EA5A0"/>
                  </a:solidFill>
                  <a:latin typeface="Times New Roman" panose="02020603050405020304" pitchFamily="18" charset="0"/>
                  <a:ea typeface="Calibri" pitchFamily="34" charset="-122"/>
                  <a:cs typeface="Times New Roman" panose="02020603050405020304" pitchFamily="18" charset="0"/>
                </a:rPr>
                <a:t>Recent Form Score</a:t>
              </a:r>
              <a:endParaRPr lang="en-US" sz="2400" dirty="0">
                <a:latin typeface="Times New Roman" panose="02020603050405020304" pitchFamily="18" charset="0"/>
                <a:cs typeface="Times New Roman" panose="02020603050405020304" pitchFamily="18" charset="0"/>
              </a:endParaRPr>
            </a:p>
          </p:txBody>
        </p:sp>
        <p:sp>
          <p:nvSpPr>
            <p:cNvPr id="31" name="Text 8">
              <a:extLst>
                <a:ext uri="{FF2B5EF4-FFF2-40B4-BE49-F238E27FC236}">
                  <a16:creationId xmlns:a16="http://schemas.microsoft.com/office/drawing/2014/main" id="{9212458C-8710-1442-E9A1-1D7E3CA54C85}"/>
                </a:ext>
              </a:extLst>
            </p:cNvPr>
            <p:cNvSpPr/>
            <p:nvPr/>
          </p:nvSpPr>
          <p:spPr>
            <a:xfrm>
              <a:off x="18881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Last 10 international matches (all competitions)</a:t>
              </a:r>
              <a:endParaRPr lang="en-US" sz="1600" dirty="0">
                <a:latin typeface="Times New Roman" panose="02020603050405020304" pitchFamily="18" charset="0"/>
                <a:cs typeface="Times New Roman" panose="02020603050405020304" pitchFamily="18" charset="0"/>
              </a:endParaRPr>
            </a:p>
          </p:txBody>
        </p:sp>
        <p:sp>
          <p:nvSpPr>
            <p:cNvPr id="32" name="Shape 9">
              <a:extLst>
                <a:ext uri="{FF2B5EF4-FFF2-40B4-BE49-F238E27FC236}">
                  <a16:creationId xmlns:a16="http://schemas.microsoft.com/office/drawing/2014/main" id="{671E33AF-3DAF-CADA-5419-51CAD303D511}"/>
                </a:ext>
              </a:extLst>
            </p:cNvPr>
            <p:cNvSpPr/>
            <p:nvPr/>
          </p:nvSpPr>
          <p:spPr>
            <a:xfrm>
              <a:off x="4722812" y="2171700"/>
              <a:ext cx="2743200" cy="1143000"/>
            </a:xfrm>
            <a:prstGeom prst="rect">
              <a:avLst/>
            </a:prstGeom>
            <a:solidFill>
              <a:srgbClr val="0D2137"/>
            </a:solidFill>
            <a:ln w="19050">
              <a:solidFill>
                <a:srgbClr val="F0C233"/>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3" name="Shape 10">
              <a:extLst>
                <a:ext uri="{FF2B5EF4-FFF2-40B4-BE49-F238E27FC236}">
                  <a16:creationId xmlns:a16="http://schemas.microsoft.com/office/drawing/2014/main" id="{7FBCDD72-1EFC-B1C5-16D2-27927CE9E599}"/>
                </a:ext>
              </a:extLst>
            </p:cNvPr>
            <p:cNvSpPr/>
            <p:nvPr/>
          </p:nvSpPr>
          <p:spPr>
            <a:xfrm>
              <a:off x="6871652" y="2281428"/>
              <a:ext cx="457200" cy="457200"/>
            </a:xfrm>
            <a:prstGeom prst="ellipse">
              <a:avLst/>
            </a:prstGeom>
            <a:solidFill>
              <a:srgbClr val="F0C233"/>
            </a:solidFill>
            <a:ln w="12700">
              <a:solidFill>
                <a:srgbClr val="F0C233"/>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4" name="Text 11">
              <a:extLst>
                <a:ext uri="{FF2B5EF4-FFF2-40B4-BE49-F238E27FC236}">
                  <a16:creationId xmlns:a16="http://schemas.microsoft.com/office/drawing/2014/main" id="{58660833-7356-72F9-943A-0E9EAA4FBD2F}"/>
                </a:ext>
              </a:extLst>
            </p:cNvPr>
            <p:cNvSpPr/>
            <p:nvPr/>
          </p:nvSpPr>
          <p:spPr>
            <a:xfrm>
              <a:off x="68716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20%</a:t>
              </a:r>
              <a:endParaRPr lang="en-US" sz="1600" dirty="0">
                <a:latin typeface="Times New Roman" panose="02020603050405020304" pitchFamily="18" charset="0"/>
                <a:cs typeface="Times New Roman" panose="02020603050405020304" pitchFamily="18" charset="0"/>
              </a:endParaRPr>
            </a:p>
          </p:txBody>
        </p:sp>
        <p:sp>
          <p:nvSpPr>
            <p:cNvPr id="35" name="Text 12">
              <a:extLst>
                <a:ext uri="{FF2B5EF4-FFF2-40B4-BE49-F238E27FC236}">
                  <a16:creationId xmlns:a16="http://schemas.microsoft.com/office/drawing/2014/main" id="{83546B7B-DC07-A88A-54F6-7666BC6D539D}"/>
                </a:ext>
              </a:extLst>
            </p:cNvPr>
            <p:cNvSpPr/>
            <p:nvPr/>
          </p:nvSpPr>
          <p:spPr>
            <a:xfrm>
              <a:off x="48599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F0C233"/>
                  </a:solidFill>
                  <a:latin typeface="Times New Roman" panose="02020603050405020304" pitchFamily="18" charset="0"/>
                  <a:ea typeface="Calibri" pitchFamily="34" charset="-122"/>
                  <a:cs typeface="Times New Roman" panose="02020603050405020304" pitchFamily="18" charset="0"/>
                </a:rPr>
                <a:t>Head-to-Head Record</a:t>
              </a:r>
              <a:endParaRPr lang="en-US" sz="2400" dirty="0">
                <a:latin typeface="Times New Roman" panose="02020603050405020304" pitchFamily="18" charset="0"/>
                <a:cs typeface="Times New Roman" panose="02020603050405020304" pitchFamily="18" charset="0"/>
              </a:endParaRPr>
            </a:p>
          </p:txBody>
        </p:sp>
        <p:sp>
          <p:nvSpPr>
            <p:cNvPr id="36" name="Text 13">
              <a:extLst>
                <a:ext uri="{FF2B5EF4-FFF2-40B4-BE49-F238E27FC236}">
                  <a16:creationId xmlns:a16="http://schemas.microsoft.com/office/drawing/2014/main" id="{519B462B-79DE-2169-6A13-DB5A6B4BEFE4}"/>
                </a:ext>
              </a:extLst>
            </p:cNvPr>
            <p:cNvSpPr/>
            <p:nvPr/>
          </p:nvSpPr>
          <p:spPr>
            <a:xfrm>
              <a:off x="48599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All international meetings between the two teams</a:t>
              </a:r>
              <a:endParaRPr lang="en-US" sz="1600" dirty="0">
                <a:latin typeface="Times New Roman" panose="02020603050405020304" pitchFamily="18" charset="0"/>
                <a:cs typeface="Times New Roman" panose="02020603050405020304" pitchFamily="18" charset="0"/>
              </a:endParaRPr>
            </a:p>
          </p:txBody>
        </p:sp>
        <p:sp>
          <p:nvSpPr>
            <p:cNvPr id="37" name="Shape 14">
              <a:extLst>
                <a:ext uri="{FF2B5EF4-FFF2-40B4-BE49-F238E27FC236}">
                  <a16:creationId xmlns:a16="http://schemas.microsoft.com/office/drawing/2014/main" id="{BC217E70-23F4-1A64-9F98-F288443DE57C}"/>
                </a:ext>
              </a:extLst>
            </p:cNvPr>
            <p:cNvSpPr/>
            <p:nvPr/>
          </p:nvSpPr>
          <p:spPr>
            <a:xfrm>
              <a:off x="7694612" y="2171700"/>
              <a:ext cx="2743200" cy="1143000"/>
            </a:xfrm>
            <a:prstGeom prst="rect">
              <a:avLst/>
            </a:prstGeom>
            <a:solidFill>
              <a:srgbClr val="0D2137"/>
            </a:solidFill>
            <a:ln w="19050">
              <a:solidFill>
                <a:srgbClr val="E74C3C"/>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8" name="Shape 15">
              <a:extLst>
                <a:ext uri="{FF2B5EF4-FFF2-40B4-BE49-F238E27FC236}">
                  <a16:creationId xmlns:a16="http://schemas.microsoft.com/office/drawing/2014/main" id="{144CC45C-1FAA-1DBD-0E00-CFC931EEBF93}"/>
                </a:ext>
              </a:extLst>
            </p:cNvPr>
            <p:cNvSpPr/>
            <p:nvPr/>
          </p:nvSpPr>
          <p:spPr>
            <a:xfrm>
              <a:off x="9843452" y="2281428"/>
              <a:ext cx="457200" cy="457200"/>
            </a:xfrm>
            <a:prstGeom prst="ellipse">
              <a:avLst/>
            </a:prstGeom>
            <a:solidFill>
              <a:srgbClr val="E74C3C"/>
            </a:solidFill>
            <a:ln w="12700">
              <a:solidFill>
                <a:srgbClr val="E74C3C"/>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9" name="Text 16">
              <a:extLst>
                <a:ext uri="{FF2B5EF4-FFF2-40B4-BE49-F238E27FC236}">
                  <a16:creationId xmlns:a16="http://schemas.microsoft.com/office/drawing/2014/main" id="{62147A9D-1475-C841-D25E-68A0B7AB0EFF}"/>
                </a:ext>
              </a:extLst>
            </p:cNvPr>
            <p:cNvSpPr/>
            <p:nvPr/>
          </p:nvSpPr>
          <p:spPr>
            <a:xfrm>
              <a:off x="98434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40" name="Text 17">
              <a:extLst>
                <a:ext uri="{FF2B5EF4-FFF2-40B4-BE49-F238E27FC236}">
                  <a16:creationId xmlns:a16="http://schemas.microsoft.com/office/drawing/2014/main" id="{6AF3B4DF-DFD1-461D-D728-6231F5ADD9DD}"/>
                </a:ext>
              </a:extLst>
            </p:cNvPr>
            <p:cNvSpPr/>
            <p:nvPr/>
          </p:nvSpPr>
          <p:spPr>
            <a:xfrm>
              <a:off x="78317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E74C3C"/>
                  </a:solidFill>
                  <a:latin typeface="Times New Roman" panose="02020603050405020304" pitchFamily="18" charset="0"/>
                  <a:ea typeface="Calibri" pitchFamily="34" charset="-122"/>
                  <a:cs typeface="Times New Roman" panose="02020603050405020304" pitchFamily="18" charset="0"/>
                </a:rPr>
                <a:t>Overall WC Win Rate</a:t>
              </a:r>
              <a:endParaRPr lang="en-US" sz="2400" dirty="0">
                <a:latin typeface="Times New Roman" panose="02020603050405020304" pitchFamily="18" charset="0"/>
                <a:cs typeface="Times New Roman" panose="02020603050405020304" pitchFamily="18" charset="0"/>
              </a:endParaRPr>
            </a:p>
          </p:txBody>
        </p:sp>
        <p:sp>
          <p:nvSpPr>
            <p:cNvPr id="41" name="Text 18">
              <a:extLst>
                <a:ext uri="{FF2B5EF4-FFF2-40B4-BE49-F238E27FC236}">
                  <a16:creationId xmlns:a16="http://schemas.microsoft.com/office/drawing/2014/main" id="{C4CB468F-6FF1-5FD7-0D35-926E3C220E65}"/>
                </a:ext>
              </a:extLst>
            </p:cNvPr>
            <p:cNvSpPr/>
            <p:nvPr/>
          </p:nvSpPr>
          <p:spPr>
            <a:xfrm>
              <a:off x="78317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Complete World Cup match history</a:t>
              </a:r>
              <a:endParaRPr lang="en-US" sz="1600" dirty="0">
                <a:latin typeface="Times New Roman" panose="02020603050405020304" pitchFamily="18" charset="0"/>
                <a:cs typeface="Times New Roman" panose="02020603050405020304" pitchFamily="18" charset="0"/>
              </a:endParaRPr>
            </a:p>
          </p:txBody>
        </p:sp>
        <p:sp>
          <p:nvSpPr>
            <p:cNvPr id="42" name="Shape 19">
              <a:extLst>
                <a:ext uri="{FF2B5EF4-FFF2-40B4-BE49-F238E27FC236}">
                  <a16:creationId xmlns:a16="http://schemas.microsoft.com/office/drawing/2014/main" id="{353DB2A4-F0ED-079A-9386-FBD9223E664E}"/>
                </a:ext>
              </a:extLst>
            </p:cNvPr>
            <p:cNvSpPr/>
            <p:nvPr/>
          </p:nvSpPr>
          <p:spPr>
            <a:xfrm>
              <a:off x="1751012" y="3543300"/>
              <a:ext cx="2743200" cy="1143000"/>
            </a:xfrm>
            <a:prstGeom prst="rect">
              <a:avLst/>
            </a:prstGeom>
            <a:solidFill>
              <a:srgbClr val="0D2137"/>
            </a:solidFill>
            <a:ln w="19050">
              <a:solidFill>
                <a:srgbClr val="9B59B6"/>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3" name="Shape 20">
              <a:extLst>
                <a:ext uri="{FF2B5EF4-FFF2-40B4-BE49-F238E27FC236}">
                  <a16:creationId xmlns:a16="http://schemas.microsoft.com/office/drawing/2014/main" id="{AFEC5020-130F-BFF8-E6E5-4EE8DD0C1D1B}"/>
                </a:ext>
              </a:extLst>
            </p:cNvPr>
            <p:cNvSpPr/>
            <p:nvPr/>
          </p:nvSpPr>
          <p:spPr>
            <a:xfrm>
              <a:off x="3899852" y="3653028"/>
              <a:ext cx="457200" cy="457200"/>
            </a:xfrm>
            <a:prstGeom prst="ellipse">
              <a:avLst/>
            </a:prstGeom>
            <a:solidFill>
              <a:srgbClr val="9B59B6"/>
            </a:solidFill>
            <a:ln w="12700">
              <a:solidFill>
                <a:srgbClr val="9B59B6"/>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4" name="Text 21">
              <a:extLst>
                <a:ext uri="{FF2B5EF4-FFF2-40B4-BE49-F238E27FC236}">
                  <a16:creationId xmlns:a16="http://schemas.microsoft.com/office/drawing/2014/main" id="{067B8847-7B0B-A2D0-0B24-F3461E2DE714}"/>
                </a:ext>
              </a:extLst>
            </p:cNvPr>
            <p:cNvSpPr/>
            <p:nvPr/>
          </p:nvSpPr>
          <p:spPr>
            <a:xfrm>
              <a:off x="38998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45" name="Text 22">
              <a:extLst>
                <a:ext uri="{FF2B5EF4-FFF2-40B4-BE49-F238E27FC236}">
                  <a16:creationId xmlns:a16="http://schemas.microsoft.com/office/drawing/2014/main" id="{F0BB6264-79D5-243C-1B8B-F5CA19B7C164}"/>
                </a:ext>
              </a:extLst>
            </p:cNvPr>
            <p:cNvSpPr/>
            <p:nvPr/>
          </p:nvSpPr>
          <p:spPr>
            <a:xfrm>
              <a:off x="18881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9B59B6"/>
                  </a:solidFill>
                  <a:latin typeface="Times New Roman" panose="02020603050405020304" pitchFamily="18" charset="0"/>
                  <a:ea typeface="Calibri" pitchFamily="34" charset="-122"/>
                  <a:cs typeface="Times New Roman" panose="02020603050405020304" pitchFamily="18" charset="0"/>
                </a:rPr>
                <a:t>H2H Goal Average</a:t>
              </a:r>
              <a:endParaRPr lang="en-US" sz="2400" dirty="0">
                <a:latin typeface="Times New Roman" panose="02020603050405020304" pitchFamily="18" charset="0"/>
                <a:cs typeface="Times New Roman" panose="02020603050405020304" pitchFamily="18" charset="0"/>
              </a:endParaRPr>
            </a:p>
          </p:txBody>
        </p:sp>
        <p:sp>
          <p:nvSpPr>
            <p:cNvPr id="46" name="Text 23">
              <a:extLst>
                <a:ext uri="{FF2B5EF4-FFF2-40B4-BE49-F238E27FC236}">
                  <a16:creationId xmlns:a16="http://schemas.microsoft.com/office/drawing/2014/main" id="{52FDCB9B-749E-7629-3D65-3B57CD130AEF}"/>
                </a:ext>
              </a:extLst>
            </p:cNvPr>
            <p:cNvSpPr/>
            <p:nvPr/>
          </p:nvSpPr>
          <p:spPr>
            <a:xfrm>
              <a:off x="18881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Goals per game in head-to-head meetings</a:t>
              </a:r>
              <a:endParaRPr lang="en-US" sz="1600" dirty="0">
                <a:latin typeface="Times New Roman" panose="02020603050405020304" pitchFamily="18" charset="0"/>
                <a:cs typeface="Times New Roman" panose="02020603050405020304" pitchFamily="18" charset="0"/>
              </a:endParaRPr>
            </a:p>
          </p:txBody>
        </p:sp>
        <p:sp>
          <p:nvSpPr>
            <p:cNvPr id="47" name="Shape 24">
              <a:extLst>
                <a:ext uri="{FF2B5EF4-FFF2-40B4-BE49-F238E27FC236}">
                  <a16:creationId xmlns:a16="http://schemas.microsoft.com/office/drawing/2014/main" id="{7040B7DC-EA26-38C1-D547-65B6EE49CA46}"/>
                </a:ext>
              </a:extLst>
            </p:cNvPr>
            <p:cNvSpPr/>
            <p:nvPr/>
          </p:nvSpPr>
          <p:spPr>
            <a:xfrm>
              <a:off x="4722812" y="3543300"/>
              <a:ext cx="2743200" cy="1143000"/>
            </a:xfrm>
            <a:prstGeom prst="rect">
              <a:avLst/>
            </a:prstGeom>
            <a:solidFill>
              <a:srgbClr val="0D2137"/>
            </a:solidFill>
            <a:ln w="19050">
              <a:solidFill>
                <a:srgbClr val="27AE6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8" name="Shape 25">
              <a:extLst>
                <a:ext uri="{FF2B5EF4-FFF2-40B4-BE49-F238E27FC236}">
                  <a16:creationId xmlns:a16="http://schemas.microsoft.com/office/drawing/2014/main" id="{CD024933-5700-493C-B49D-4F0876BE152E}"/>
                </a:ext>
              </a:extLst>
            </p:cNvPr>
            <p:cNvSpPr/>
            <p:nvPr/>
          </p:nvSpPr>
          <p:spPr>
            <a:xfrm>
              <a:off x="6871652" y="3653028"/>
              <a:ext cx="457200" cy="457200"/>
            </a:xfrm>
            <a:prstGeom prst="ellipse">
              <a:avLst/>
            </a:prstGeom>
            <a:solidFill>
              <a:srgbClr val="27AE60"/>
            </a:solidFill>
            <a:ln w="12700">
              <a:solidFill>
                <a:srgbClr val="27AE6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9" name="Text 26">
              <a:extLst>
                <a:ext uri="{FF2B5EF4-FFF2-40B4-BE49-F238E27FC236}">
                  <a16:creationId xmlns:a16="http://schemas.microsoft.com/office/drawing/2014/main" id="{3EC4A293-53A1-9EA3-EA15-72AA8583E4D5}"/>
                </a:ext>
              </a:extLst>
            </p:cNvPr>
            <p:cNvSpPr/>
            <p:nvPr/>
          </p:nvSpPr>
          <p:spPr>
            <a:xfrm>
              <a:off x="68716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50" name="Text 27">
              <a:extLst>
                <a:ext uri="{FF2B5EF4-FFF2-40B4-BE49-F238E27FC236}">
                  <a16:creationId xmlns:a16="http://schemas.microsoft.com/office/drawing/2014/main" id="{C491D535-8234-355B-07DF-8ED9D7CEDFDD}"/>
                </a:ext>
              </a:extLst>
            </p:cNvPr>
            <p:cNvSpPr/>
            <p:nvPr/>
          </p:nvSpPr>
          <p:spPr>
            <a:xfrm>
              <a:off x="48599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27AE60"/>
                  </a:solidFill>
                  <a:latin typeface="Times New Roman" panose="02020603050405020304" pitchFamily="18" charset="0"/>
                  <a:ea typeface="Calibri" pitchFamily="34" charset="-122"/>
                  <a:cs typeface="Times New Roman" panose="02020603050405020304" pitchFamily="18" charset="0"/>
                </a:rPr>
                <a:t>Recent Goal Difference</a:t>
              </a:r>
              <a:endParaRPr lang="en-US" sz="2400" dirty="0">
                <a:latin typeface="Times New Roman" panose="02020603050405020304" pitchFamily="18" charset="0"/>
                <a:cs typeface="Times New Roman" panose="02020603050405020304" pitchFamily="18" charset="0"/>
              </a:endParaRPr>
            </a:p>
          </p:txBody>
        </p:sp>
        <p:sp>
          <p:nvSpPr>
            <p:cNvPr id="51" name="Text 28">
              <a:extLst>
                <a:ext uri="{FF2B5EF4-FFF2-40B4-BE49-F238E27FC236}">
                  <a16:creationId xmlns:a16="http://schemas.microsoft.com/office/drawing/2014/main" id="{4D3D3695-A050-6201-B0F6-F0542FB54DE3}"/>
                </a:ext>
              </a:extLst>
            </p:cNvPr>
            <p:cNvSpPr/>
            <p:nvPr/>
          </p:nvSpPr>
          <p:spPr>
            <a:xfrm>
              <a:off x="48599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 difference in last 10 international matches</a:t>
              </a:r>
              <a:endParaRPr lang="en-US" sz="16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32793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25F2-13A7-F8E7-6D78-A7EE5A03E5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F746A4-ADD0-C3CE-3629-5102D88D32CF}"/>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C45D74E-3A04-1EB5-76ED-EF8D52B4938C}"/>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Prediction: Brazil vs Germany</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E49B584-CAE2-29A1-4A13-6718085429B5}"/>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D9EDE2EE-ED69-95EE-5E01-34126B02DF7C}"/>
              </a:ext>
            </a:extLst>
          </p:cNvPr>
          <p:cNvPicPr>
            <a:picLocks noChangeAspect="1"/>
          </p:cNvPicPr>
          <p:nvPr/>
        </p:nvPicPr>
        <p:blipFill>
          <a:blip r:embed="rId3"/>
          <a:stretch>
            <a:fillRect/>
          </a:stretch>
        </p:blipFill>
        <p:spPr>
          <a:xfrm>
            <a:off x="274319" y="1170433"/>
            <a:ext cx="11484455" cy="5497878"/>
          </a:xfrm>
          <a:prstGeom prst="rect">
            <a:avLst/>
          </a:prstGeom>
        </p:spPr>
      </p:pic>
    </p:spTree>
    <p:extLst>
      <p:ext uri="{BB962C8B-B14F-4D97-AF65-F5344CB8AC3E}">
        <p14:creationId xmlns:p14="http://schemas.microsoft.com/office/powerpoint/2010/main" val="399801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8495-E71A-1BAB-7D62-2922BA6CCA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36F36A-68BC-89E6-2AEC-781A78B90F68}"/>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C5A4765-BA9B-C8DC-C527-B41B96671262}"/>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LLM Match Preview</a:t>
            </a:r>
            <a:endParaRPr sz="3000" b="1" i="0" dirty="0">
              <a:solidFill>
                <a:srgbClr val="FFFFFF"/>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3AE5E21-0B2C-647E-7152-F872C4BFE0E4}"/>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C278E653-F7F4-9CC2-F886-9845F78276DF}"/>
              </a:ext>
            </a:extLst>
          </p:cNvPr>
          <p:cNvPicPr>
            <a:picLocks noChangeAspect="1"/>
          </p:cNvPicPr>
          <p:nvPr/>
        </p:nvPicPr>
        <p:blipFill>
          <a:blip r:embed="rId3"/>
          <a:stretch>
            <a:fillRect/>
          </a:stretch>
        </p:blipFill>
        <p:spPr>
          <a:xfrm>
            <a:off x="365760" y="1334186"/>
            <a:ext cx="11327079" cy="4778938"/>
          </a:xfrm>
          <a:prstGeom prst="rect">
            <a:avLst/>
          </a:prstGeom>
        </p:spPr>
      </p:pic>
    </p:spTree>
    <p:extLst>
      <p:ext uri="{BB962C8B-B14F-4D97-AF65-F5344CB8AC3E}">
        <p14:creationId xmlns:p14="http://schemas.microsoft.com/office/powerpoint/2010/main" val="235717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CE6D-7F86-DE21-229F-41A2F79177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610F7B-C97B-7CA5-E454-814DDEE70C58}"/>
              </a:ext>
            </a:extLst>
          </p:cNvPr>
          <p:cNvSpPr/>
          <p:nvPr/>
        </p:nvSpPr>
        <p:spPr>
          <a:xfrm>
            <a:off x="0" y="0"/>
            <a:ext cx="12188952" cy="1005840"/>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4A99DDC-C16D-AE45-8F1F-C5640C5AF7C9}"/>
              </a:ext>
            </a:extLst>
          </p:cNvPr>
          <p:cNvSpPr txBox="1"/>
          <p:nvPr/>
        </p:nvSpPr>
        <p:spPr>
          <a:xfrm>
            <a:off x="365760" y="164592"/>
            <a:ext cx="10972800" cy="553998"/>
          </a:xfrm>
          <a:prstGeom prst="rect">
            <a:avLst/>
          </a:prstGeom>
          <a:noFill/>
        </p:spPr>
        <p:txBody>
          <a:bodyPr wrap="square">
            <a:spAutoFit/>
          </a:bodyPr>
          <a:lstStyle/>
          <a:p>
            <a:pPr algn="l"/>
            <a:r>
              <a:rPr sz="3000" b="1" i="0" dirty="0">
                <a:solidFill>
                  <a:srgbClr val="FFFFFF"/>
                </a:solidFill>
                <a:latin typeface="Times New Roman" panose="02020603050405020304" pitchFamily="18" charset="0"/>
                <a:cs typeface="Times New Roman" panose="02020603050405020304" pitchFamily="18" charset="0"/>
              </a:rPr>
              <a:t>Live Demo — </a:t>
            </a:r>
            <a:r>
              <a:rPr lang="en-IN" sz="3000" b="1" i="0" dirty="0" err="1">
                <a:solidFill>
                  <a:srgbClr val="FFFFFF"/>
                </a:solidFill>
                <a:latin typeface="Times New Roman" panose="02020603050405020304" pitchFamily="18" charset="0"/>
                <a:cs typeface="Times New Roman" panose="02020603050405020304" pitchFamily="18" charset="0"/>
              </a:rPr>
              <a:t>Gradio</a:t>
            </a:r>
            <a:r>
              <a:rPr lang="en-IN" sz="3000" b="1" i="0" dirty="0">
                <a:solidFill>
                  <a:srgbClr val="FFFFFF"/>
                </a:solidFill>
                <a:latin typeface="Times New Roman" panose="02020603050405020304" pitchFamily="18" charset="0"/>
                <a:cs typeface="Times New Roman" panose="02020603050405020304" pitchFamily="18" charset="0"/>
              </a:rPr>
              <a:t> Web Interface</a:t>
            </a:r>
            <a:endParaRPr sz="3000" b="1" i="0" dirty="0">
              <a:solidFill>
                <a:srgbClr val="FFFFFF"/>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B063E89-1C22-4085-6414-8DEE1FDBC554}"/>
              </a:ext>
            </a:extLst>
          </p:cNvPr>
          <p:cNvPicPr>
            <a:picLocks noChangeAspect="1"/>
          </p:cNvPicPr>
          <p:nvPr/>
        </p:nvPicPr>
        <p:blipFill>
          <a:blip r:embed="rId3"/>
          <a:stretch>
            <a:fillRect/>
          </a:stretch>
        </p:blipFill>
        <p:spPr>
          <a:xfrm>
            <a:off x="1429278" y="1170432"/>
            <a:ext cx="9483196" cy="5511031"/>
          </a:xfrm>
          <a:prstGeom prst="rect">
            <a:avLst/>
          </a:prstGeom>
        </p:spPr>
      </p:pic>
    </p:spTree>
    <p:extLst>
      <p:ext uri="{BB962C8B-B14F-4D97-AF65-F5344CB8AC3E}">
        <p14:creationId xmlns:p14="http://schemas.microsoft.com/office/powerpoint/2010/main" val="229820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69E0-4C7E-1B8B-1DFC-18609AEB73F5}"/>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68ACCB3-4B1D-ABD5-CD25-CA715DC12F48}"/>
              </a:ext>
            </a:extLst>
          </p:cNvPr>
          <p:cNvGrpSpPr/>
          <p:nvPr/>
        </p:nvGrpSpPr>
        <p:grpSpPr>
          <a:xfrm>
            <a:off x="-1" y="-1"/>
            <a:ext cx="12188825" cy="6685935"/>
            <a:chOff x="0" y="0"/>
            <a:chExt cx="9144000" cy="4873752"/>
          </a:xfrm>
        </p:grpSpPr>
        <p:sp>
          <p:nvSpPr>
            <p:cNvPr id="18" name="Shape 0">
              <a:extLst>
                <a:ext uri="{FF2B5EF4-FFF2-40B4-BE49-F238E27FC236}">
                  <a16:creationId xmlns:a16="http://schemas.microsoft.com/office/drawing/2014/main" id="{81AF33C8-6D39-A541-1421-2BAE05520115}"/>
                </a:ext>
              </a:extLst>
            </p:cNvPr>
            <p:cNvSpPr/>
            <p:nvPr/>
          </p:nvSpPr>
          <p:spPr>
            <a:xfrm>
              <a:off x="0" y="0"/>
              <a:ext cx="9144000" cy="1005840"/>
            </a:xfrm>
            <a:prstGeom prst="rect">
              <a:avLst/>
            </a:prstGeom>
            <a:solidFill>
              <a:srgbClr val="0A1628"/>
            </a:solidFill>
            <a:ln w="12700">
              <a:solidFill>
                <a:srgbClr val="0A162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Shape 1">
              <a:extLst>
                <a:ext uri="{FF2B5EF4-FFF2-40B4-BE49-F238E27FC236}">
                  <a16:creationId xmlns:a16="http://schemas.microsoft.com/office/drawing/2014/main" id="{D1F898F6-CCA9-C6D2-B8E0-6EF9147B8201}"/>
                </a:ext>
              </a:extLst>
            </p:cNvPr>
            <p:cNvSpPr/>
            <p:nvPr/>
          </p:nvSpPr>
          <p:spPr>
            <a:xfrm>
              <a:off x="0" y="1005840"/>
              <a:ext cx="9144000" cy="45720"/>
            </a:xfrm>
            <a:prstGeom prst="rect">
              <a:avLst/>
            </a:prstGeom>
            <a:solidFill>
              <a:srgbClr val="F0C233"/>
            </a:solidFill>
            <a:ln w="12700">
              <a:solidFill>
                <a:srgbClr val="F0C23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2">
              <a:extLst>
                <a:ext uri="{FF2B5EF4-FFF2-40B4-BE49-F238E27FC236}">
                  <a16:creationId xmlns:a16="http://schemas.microsoft.com/office/drawing/2014/main" id="{3EB4985B-E8B9-7D23-0AD0-2FE88B70E0A7}"/>
                </a:ext>
              </a:extLst>
            </p:cNvPr>
            <p:cNvSpPr/>
            <p:nvPr/>
          </p:nvSpPr>
          <p:spPr>
            <a:xfrm>
              <a:off x="365760" y="137160"/>
              <a:ext cx="7315200" cy="457200"/>
            </a:xfrm>
            <a:prstGeom prst="rect">
              <a:avLst/>
            </a:prstGeom>
            <a:noFill/>
            <a:ln/>
          </p:spPr>
          <p:txBody>
            <a:bodyPr wrap="square" lIns="0" tIns="0" rIns="0" bIns="0" rtlCol="0" anchor="ctr"/>
            <a:lstStyle/>
            <a:p>
              <a:pPr marL="0" indent="0">
                <a:buNone/>
              </a:pPr>
              <a:r>
                <a:rPr lang="en-US" sz="2600" b="1" dirty="0">
                  <a:solidFill>
                    <a:srgbClr val="FFFFFF"/>
                  </a:solidFill>
                  <a:latin typeface="Times New Roman" panose="02020603050405020304" pitchFamily="18" charset="0"/>
                  <a:ea typeface="Arial Black" pitchFamily="34" charset="-122"/>
                  <a:cs typeface="Times New Roman" panose="02020603050405020304" pitchFamily="18" charset="0"/>
                </a:rPr>
                <a:t>KEY FEATURES &amp; DEMO</a:t>
              </a:r>
              <a:endParaRPr lang="en-US" sz="2600" dirty="0">
                <a:latin typeface="Times New Roman" panose="02020603050405020304" pitchFamily="18" charset="0"/>
                <a:cs typeface="Times New Roman" panose="02020603050405020304" pitchFamily="18" charset="0"/>
              </a:endParaRPr>
            </a:p>
          </p:txBody>
        </p:sp>
        <p:sp>
          <p:nvSpPr>
            <p:cNvPr id="21" name="Text 3">
              <a:extLst>
                <a:ext uri="{FF2B5EF4-FFF2-40B4-BE49-F238E27FC236}">
                  <a16:creationId xmlns:a16="http://schemas.microsoft.com/office/drawing/2014/main" id="{836EB4B7-D33E-53A4-4774-D5335D40BAAA}"/>
                </a:ext>
              </a:extLst>
            </p:cNvPr>
            <p:cNvSpPr/>
            <p:nvPr/>
          </p:nvSpPr>
          <p:spPr>
            <a:xfrm>
              <a:off x="365760" y="594360"/>
              <a:ext cx="7315200" cy="320040"/>
            </a:xfrm>
            <a:prstGeom prst="rect">
              <a:avLst/>
            </a:prstGeom>
            <a:noFill/>
            <a:ln/>
          </p:spPr>
          <p:txBody>
            <a:bodyPr wrap="square" lIns="0" tIns="0" rIns="0" bIns="0" rtlCol="0" anchor="ctr"/>
            <a:lstStyle/>
            <a:p>
              <a:pPr marL="0" indent="0">
                <a:buNone/>
              </a:pPr>
              <a:r>
                <a:rPr lang="en-US" sz="1300" i="1" dirty="0">
                  <a:solidFill>
                    <a:srgbClr val="FAE27C"/>
                  </a:solidFill>
                  <a:latin typeface="Times New Roman" panose="02020603050405020304" pitchFamily="18" charset="0"/>
                  <a:ea typeface="Calibri" pitchFamily="34" charset="-122"/>
                  <a:cs typeface="Times New Roman" panose="02020603050405020304" pitchFamily="18" charset="0"/>
                </a:rPr>
                <a:t>What the chatbot can do</a:t>
              </a:r>
              <a:endParaRPr lang="en-US" sz="1300" dirty="0">
                <a:latin typeface="Times New Roman" panose="02020603050405020304" pitchFamily="18" charset="0"/>
                <a:cs typeface="Times New Roman" panose="02020603050405020304" pitchFamily="18" charset="0"/>
              </a:endParaRPr>
            </a:p>
          </p:txBody>
        </p:sp>
        <p:sp>
          <p:nvSpPr>
            <p:cNvPr id="22" name="Shape 4">
              <a:extLst>
                <a:ext uri="{FF2B5EF4-FFF2-40B4-BE49-F238E27FC236}">
                  <a16:creationId xmlns:a16="http://schemas.microsoft.com/office/drawing/2014/main" id="{7F61C294-7656-8381-D5AB-FC5EDB1B8CD7}"/>
                </a:ext>
              </a:extLst>
            </p:cNvPr>
            <p:cNvSpPr/>
            <p:nvPr/>
          </p:nvSpPr>
          <p:spPr>
            <a:xfrm>
              <a:off x="274320" y="1234440"/>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3" name="Text 5">
              <a:extLst>
                <a:ext uri="{FF2B5EF4-FFF2-40B4-BE49-F238E27FC236}">
                  <a16:creationId xmlns:a16="http://schemas.microsoft.com/office/drawing/2014/main" id="{EBE92E2F-512A-5031-2DA2-EBDC910FA9CA}"/>
                </a:ext>
              </a:extLst>
            </p:cNvPr>
            <p:cNvSpPr/>
            <p:nvPr/>
          </p:nvSpPr>
          <p:spPr>
            <a:xfrm>
              <a:off x="320040" y="1234440"/>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4" name="Text 6">
              <a:extLst>
                <a:ext uri="{FF2B5EF4-FFF2-40B4-BE49-F238E27FC236}">
                  <a16:creationId xmlns:a16="http://schemas.microsoft.com/office/drawing/2014/main" id="{F5321FC0-4D26-FF44-E061-D91ABAD778B2}"/>
                </a:ext>
              </a:extLst>
            </p:cNvPr>
            <p:cNvSpPr/>
            <p:nvPr/>
          </p:nvSpPr>
          <p:spPr>
            <a:xfrm>
              <a:off x="868680" y="1289304"/>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Natural Language Q&amp;A</a:t>
              </a:r>
              <a:endParaRPr lang="en-US" sz="1100" dirty="0">
                <a:latin typeface="Times New Roman" panose="02020603050405020304" pitchFamily="18" charset="0"/>
                <a:cs typeface="Times New Roman" panose="02020603050405020304" pitchFamily="18" charset="0"/>
              </a:endParaRPr>
            </a:p>
          </p:txBody>
        </p:sp>
        <p:sp>
          <p:nvSpPr>
            <p:cNvPr id="25" name="Text 7">
              <a:extLst>
                <a:ext uri="{FF2B5EF4-FFF2-40B4-BE49-F238E27FC236}">
                  <a16:creationId xmlns:a16="http://schemas.microsoft.com/office/drawing/2014/main" id="{E4B3623B-489B-BA6E-7A2F-81B379F3BC42}"/>
                </a:ext>
              </a:extLst>
            </p:cNvPr>
            <p:cNvSpPr/>
            <p:nvPr/>
          </p:nvSpPr>
          <p:spPr>
            <a:xfrm>
              <a:off x="868680" y="1545336"/>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Ask anything about World Cup history — winners, top scorers, records</a:t>
              </a:r>
              <a:endParaRPr lang="en-US" sz="950" dirty="0">
                <a:latin typeface="Times New Roman" panose="02020603050405020304" pitchFamily="18" charset="0"/>
                <a:cs typeface="Times New Roman" panose="02020603050405020304" pitchFamily="18" charset="0"/>
              </a:endParaRPr>
            </a:p>
          </p:txBody>
        </p:sp>
        <p:sp>
          <p:nvSpPr>
            <p:cNvPr id="26" name="Shape 8">
              <a:extLst>
                <a:ext uri="{FF2B5EF4-FFF2-40B4-BE49-F238E27FC236}">
                  <a16:creationId xmlns:a16="http://schemas.microsoft.com/office/drawing/2014/main" id="{EF04B7E9-07E2-9BEB-969B-3081B6CD6123}"/>
                </a:ext>
              </a:extLst>
            </p:cNvPr>
            <p:cNvSpPr/>
            <p:nvPr/>
          </p:nvSpPr>
          <p:spPr>
            <a:xfrm>
              <a:off x="274320" y="1984248"/>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7" name="Text 9">
              <a:extLst>
                <a:ext uri="{FF2B5EF4-FFF2-40B4-BE49-F238E27FC236}">
                  <a16:creationId xmlns:a16="http://schemas.microsoft.com/office/drawing/2014/main" id="{DD967778-78E1-93B6-0577-3CB0A103EE66}"/>
                </a:ext>
              </a:extLst>
            </p:cNvPr>
            <p:cNvSpPr/>
            <p:nvPr/>
          </p:nvSpPr>
          <p:spPr>
            <a:xfrm>
              <a:off x="320040" y="1984248"/>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8" name="Text 10">
              <a:extLst>
                <a:ext uri="{FF2B5EF4-FFF2-40B4-BE49-F238E27FC236}">
                  <a16:creationId xmlns:a16="http://schemas.microsoft.com/office/drawing/2014/main" id="{C96C602C-7EE8-232F-4236-005BB664509D}"/>
                </a:ext>
              </a:extLst>
            </p:cNvPr>
            <p:cNvSpPr/>
            <p:nvPr/>
          </p:nvSpPr>
          <p:spPr>
            <a:xfrm>
              <a:off x="868680" y="2039112"/>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Match Prediction</a:t>
              </a:r>
              <a:endParaRPr lang="en-US" sz="1100" dirty="0">
                <a:latin typeface="Times New Roman" panose="02020603050405020304" pitchFamily="18" charset="0"/>
                <a:cs typeface="Times New Roman" panose="02020603050405020304" pitchFamily="18" charset="0"/>
              </a:endParaRPr>
            </a:p>
          </p:txBody>
        </p:sp>
        <p:sp>
          <p:nvSpPr>
            <p:cNvPr id="29" name="Text 11">
              <a:extLst>
                <a:ext uri="{FF2B5EF4-FFF2-40B4-BE49-F238E27FC236}">
                  <a16:creationId xmlns:a16="http://schemas.microsoft.com/office/drawing/2014/main" id="{373322FF-9303-A2FB-F7D7-F5D3D17394B6}"/>
                </a:ext>
              </a:extLst>
            </p:cNvPr>
            <p:cNvSpPr/>
            <p:nvPr/>
          </p:nvSpPr>
          <p:spPr>
            <a:xfrm>
              <a:off x="868680" y="2295144"/>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Prefix query with "predict:" to get evidence-based match outcome analysis</a:t>
              </a:r>
              <a:endParaRPr lang="en-US" sz="95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37120C4-016C-B917-C023-053ADA1F8C52}"/>
                </a:ext>
              </a:extLst>
            </p:cNvPr>
            <p:cNvSpPr/>
            <p:nvPr/>
          </p:nvSpPr>
          <p:spPr>
            <a:xfrm>
              <a:off x="274320" y="2734056"/>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1" name="Text 13">
              <a:extLst>
                <a:ext uri="{FF2B5EF4-FFF2-40B4-BE49-F238E27FC236}">
                  <a16:creationId xmlns:a16="http://schemas.microsoft.com/office/drawing/2014/main" id="{79F61A39-4B27-3CE8-CB92-00B2DEED4BDA}"/>
                </a:ext>
              </a:extLst>
            </p:cNvPr>
            <p:cNvSpPr/>
            <p:nvPr/>
          </p:nvSpPr>
          <p:spPr>
            <a:xfrm>
              <a:off x="320040" y="2734056"/>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2" name="Text 14">
              <a:extLst>
                <a:ext uri="{FF2B5EF4-FFF2-40B4-BE49-F238E27FC236}">
                  <a16:creationId xmlns:a16="http://schemas.microsoft.com/office/drawing/2014/main" id="{4A5894C5-F978-DBEC-37B4-50003D3974D8}"/>
                </a:ext>
              </a:extLst>
            </p:cNvPr>
            <p:cNvSpPr/>
            <p:nvPr/>
          </p:nvSpPr>
          <p:spPr>
            <a:xfrm>
              <a:off x="868680" y="2788920"/>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Conversation Memory</a:t>
              </a:r>
              <a:endParaRPr lang="en-US" sz="1100" dirty="0">
                <a:latin typeface="Times New Roman" panose="02020603050405020304" pitchFamily="18" charset="0"/>
                <a:cs typeface="Times New Roman" panose="02020603050405020304" pitchFamily="18" charset="0"/>
              </a:endParaRPr>
            </a:p>
          </p:txBody>
        </p:sp>
        <p:sp>
          <p:nvSpPr>
            <p:cNvPr id="33" name="Text 15">
              <a:extLst>
                <a:ext uri="{FF2B5EF4-FFF2-40B4-BE49-F238E27FC236}">
                  <a16:creationId xmlns:a16="http://schemas.microsoft.com/office/drawing/2014/main" id="{E8C41C9B-0F03-B2A5-A084-E1CB91887A92}"/>
                </a:ext>
              </a:extLst>
            </p:cNvPr>
            <p:cNvSpPr/>
            <p:nvPr/>
          </p:nvSpPr>
          <p:spPr>
            <a:xfrm>
              <a:off x="868680" y="3044952"/>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Retains chat_history for multi-turn context with persistent user preferences</a:t>
              </a:r>
              <a:endParaRPr lang="en-US" sz="950" dirty="0">
                <a:latin typeface="Times New Roman" panose="02020603050405020304" pitchFamily="18" charset="0"/>
                <a:cs typeface="Times New Roman" panose="02020603050405020304" pitchFamily="18" charset="0"/>
              </a:endParaRPr>
            </a:p>
          </p:txBody>
        </p:sp>
        <p:sp>
          <p:nvSpPr>
            <p:cNvPr id="34" name="Shape 16">
              <a:extLst>
                <a:ext uri="{FF2B5EF4-FFF2-40B4-BE49-F238E27FC236}">
                  <a16:creationId xmlns:a16="http://schemas.microsoft.com/office/drawing/2014/main" id="{9DF3E4FC-ADB8-6397-E65A-643A9A409649}"/>
                </a:ext>
              </a:extLst>
            </p:cNvPr>
            <p:cNvSpPr/>
            <p:nvPr/>
          </p:nvSpPr>
          <p:spPr>
            <a:xfrm>
              <a:off x="274320" y="3483864"/>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5" name="Text 17">
              <a:extLst>
                <a:ext uri="{FF2B5EF4-FFF2-40B4-BE49-F238E27FC236}">
                  <a16:creationId xmlns:a16="http://schemas.microsoft.com/office/drawing/2014/main" id="{4A1E271B-31E3-CF8E-F964-19F63E0B7B20}"/>
                </a:ext>
              </a:extLst>
            </p:cNvPr>
            <p:cNvSpPr/>
            <p:nvPr/>
          </p:nvSpPr>
          <p:spPr>
            <a:xfrm>
              <a:off x="320040" y="3483864"/>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6" name="Text 18">
              <a:extLst>
                <a:ext uri="{FF2B5EF4-FFF2-40B4-BE49-F238E27FC236}">
                  <a16:creationId xmlns:a16="http://schemas.microsoft.com/office/drawing/2014/main" id="{DD875E6B-3D46-B651-9EBC-780C8B150F6D}"/>
                </a:ext>
              </a:extLst>
            </p:cNvPr>
            <p:cNvSpPr/>
            <p:nvPr/>
          </p:nvSpPr>
          <p:spPr>
            <a:xfrm>
              <a:off x="868680" y="3538728"/>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Gradio Interface</a:t>
              </a:r>
              <a:endParaRPr lang="en-US" sz="1100" dirty="0">
                <a:latin typeface="Times New Roman" panose="02020603050405020304" pitchFamily="18" charset="0"/>
                <a:cs typeface="Times New Roman" panose="02020603050405020304" pitchFamily="18" charset="0"/>
              </a:endParaRPr>
            </a:p>
          </p:txBody>
        </p:sp>
        <p:sp>
          <p:nvSpPr>
            <p:cNvPr id="37" name="Text 19">
              <a:extLst>
                <a:ext uri="{FF2B5EF4-FFF2-40B4-BE49-F238E27FC236}">
                  <a16:creationId xmlns:a16="http://schemas.microsoft.com/office/drawing/2014/main" id="{3CC522B1-8144-B054-C93A-3C9172A5D1E0}"/>
                </a:ext>
              </a:extLst>
            </p:cNvPr>
            <p:cNvSpPr/>
            <p:nvPr/>
          </p:nvSpPr>
          <p:spPr>
            <a:xfrm>
              <a:off x="868680" y="3794760"/>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Live shareable web UI for interactive demo during presentations</a:t>
              </a:r>
              <a:endParaRPr lang="en-US" sz="950" dirty="0">
                <a:latin typeface="Times New Roman" panose="02020603050405020304" pitchFamily="18" charset="0"/>
                <a:cs typeface="Times New Roman" panose="02020603050405020304" pitchFamily="18" charset="0"/>
              </a:endParaRPr>
            </a:p>
          </p:txBody>
        </p:sp>
        <p:sp>
          <p:nvSpPr>
            <p:cNvPr id="38" name="Shape 20">
              <a:extLst>
                <a:ext uri="{FF2B5EF4-FFF2-40B4-BE49-F238E27FC236}">
                  <a16:creationId xmlns:a16="http://schemas.microsoft.com/office/drawing/2014/main" id="{BE306911-2CF8-6E39-B654-E11CFB6C24F3}"/>
                </a:ext>
              </a:extLst>
            </p:cNvPr>
            <p:cNvSpPr/>
            <p:nvPr/>
          </p:nvSpPr>
          <p:spPr>
            <a:xfrm>
              <a:off x="274320" y="4233672"/>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9" name="Text 21">
              <a:extLst>
                <a:ext uri="{FF2B5EF4-FFF2-40B4-BE49-F238E27FC236}">
                  <a16:creationId xmlns:a16="http://schemas.microsoft.com/office/drawing/2014/main" id="{59D97041-6650-7779-6658-D05F9C999D77}"/>
                </a:ext>
              </a:extLst>
            </p:cNvPr>
            <p:cNvSpPr/>
            <p:nvPr/>
          </p:nvSpPr>
          <p:spPr>
            <a:xfrm>
              <a:off x="320040" y="4233672"/>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40" name="Text 22">
              <a:extLst>
                <a:ext uri="{FF2B5EF4-FFF2-40B4-BE49-F238E27FC236}">
                  <a16:creationId xmlns:a16="http://schemas.microsoft.com/office/drawing/2014/main" id="{190FF639-8F53-6B68-C70F-811E01349D36}"/>
                </a:ext>
              </a:extLst>
            </p:cNvPr>
            <p:cNvSpPr/>
            <p:nvPr/>
          </p:nvSpPr>
          <p:spPr>
            <a:xfrm>
              <a:off x="868680" y="4288536"/>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Responsible AI</a:t>
              </a:r>
              <a:endParaRPr lang="en-US" sz="1100" dirty="0">
                <a:latin typeface="Times New Roman" panose="02020603050405020304" pitchFamily="18" charset="0"/>
                <a:cs typeface="Times New Roman" panose="02020603050405020304" pitchFamily="18" charset="0"/>
              </a:endParaRPr>
            </a:p>
          </p:txBody>
        </p:sp>
        <p:sp>
          <p:nvSpPr>
            <p:cNvPr id="41" name="Text 23">
              <a:extLst>
                <a:ext uri="{FF2B5EF4-FFF2-40B4-BE49-F238E27FC236}">
                  <a16:creationId xmlns:a16="http://schemas.microsoft.com/office/drawing/2014/main" id="{257C8746-DACF-D60A-479D-91E595EAA5AC}"/>
                </a:ext>
              </a:extLst>
            </p:cNvPr>
            <p:cNvSpPr/>
            <p:nvPr/>
          </p:nvSpPr>
          <p:spPr>
            <a:xfrm>
              <a:off x="868680" y="4544568"/>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Grounded outputs with limitations stated — not gambling advice</a:t>
              </a:r>
              <a:endParaRPr lang="en-US" sz="950" dirty="0">
                <a:latin typeface="Times New Roman" panose="02020603050405020304" pitchFamily="18" charset="0"/>
                <a:cs typeface="Times New Roman" panose="02020603050405020304" pitchFamily="18" charset="0"/>
              </a:endParaRPr>
            </a:p>
          </p:txBody>
        </p:sp>
        <p:sp>
          <p:nvSpPr>
            <p:cNvPr id="42" name="Shape 24">
              <a:extLst>
                <a:ext uri="{FF2B5EF4-FFF2-40B4-BE49-F238E27FC236}">
                  <a16:creationId xmlns:a16="http://schemas.microsoft.com/office/drawing/2014/main" id="{C6445970-D32C-5413-5226-79ADA9D1FD61}"/>
                </a:ext>
              </a:extLst>
            </p:cNvPr>
            <p:cNvSpPr/>
            <p:nvPr/>
          </p:nvSpPr>
          <p:spPr>
            <a:xfrm>
              <a:off x="4663440" y="1234440"/>
              <a:ext cx="4160520" cy="384048"/>
            </a:xfrm>
            <a:prstGeom prst="rect">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3" name="Text 25">
              <a:extLst>
                <a:ext uri="{FF2B5EF4-FFF2-40B4-BE49-F238E27FC236}">
                  <a16:creationId xmlns:a16="http://schemas.microsoft.com/office/drawing/2014/main" id="{7FF4FFAC-6A4B-AC6B-24C6-54558242D6EA}"/>
                </a:ext>
              </a:extLst>
            </p:cNvPr>
            <p:cNvSpPr/>
            <p:nvPr/>
          </p:nvSpPr>
          <p:spPr>
            <a:xfrm>
              <a:off x="4663440" y="1234440"/>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SAMPLE QUERIES</a:t>
              </a:r>
              <a:endParaRPr lang="en-US" sz="1300" dirty="0">
                <a:latin typeface="Times New Roman" panose="02020603050405020304" pitchFamily="18" charset="0"/>
                <a:cs typeface="Times New Roman" panose="02020603050405020304" pitchFamily="18" charset="0"/>
              </a:endParaRPr>
            </a:p>
          </p:txBody>
        </p:sp>
        <p:sp>
          <p:nvSpPr>
            <p:cNvPr id="44" name="Shape 26">
              <a:extLst>
                <a:ext uri="{FF2B5EF4-FFF2-40B4-BE49-F238E27FC236}">
                  <a16:creationId xmlns:a16="http://schemas.microsoft.com/office/drawing/2014/main" id="{F133CE32-9084-0E0D-4B45-75B69D4EF537}"/>
                </a:ext>
              </a:extLst>
            </p:cNvPr>
            <p:cNvSpPr/>
            <p:nvPr/>
          </p:nvSpPr>
          <p:spPr>
            <a:xfrm>
              <a:off x="4663440" y="1737360"/>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5" name="Shape 27">
              <a:extLst>
                <a:ext uri="{FF2B5EF4-FFF2-40B4-BE49-F238E27FC236}">
                  <a16:creationId xmlns:a16="http://schemas.microsoft.com/office/drawing/2014/main" id="{DFFE79DA-A2A1-B0FA-2E28-2FE753F91E78}"/>
                </a:ext>
              </a:extLst>
            </p:cNvPr>
            <p:cNvSpPr/>
            <p:nvPr/>
          </p:nvSpPr>
          <p:spPr>
            <a:xfrm>
              <a:off x="4736592" y="1856232"/>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6" name="Text 28">
              <a:extLst>
                <a:ext uri="{FF2B5EF4-FFF2-40B4-BE49-F238E27FC236}">
                  <a16:creationId xmlns:a16="http://schemas.microsoft.com/office/drawing/2014/main" id="{4AE29C9D-F2FC-0804-FDE2-04AFF6D8F50A}"/>
                </a:ext>
              </a:extLst>
            </p:cNvPr>
            <p:cNvSpPr/>
            <p:nvPr/>
          </p:nvSpPr>
          <p:spPr>
            <a:xfrm>
              <a:off x="4736592" y="1856232"/>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1</a:t>
              </a:r>
              <a:endParaRPr lang="en-US" sz="800" dirty="0">
                <a:latin typeface="Times New Roman" panose="02020603050405020304" pitchFamily="18" charset="0"/>
                <a:cs typeface="Times New Roman" panose="02020603050405020304" pitchFamily="18" charset="0"/>
              </a:endParaRPr>
            </a:p>
          </p:txBody>
        </p:sp>
        <p:sp>
          <p:nvSpPr>
            <p:cNvPr id="47" name="Text 29">
              <a:extLst>
                <a:ext uri="{FF2B5EF4-FFF2-40B4-BE49-F238E27FC236}">
                  <a16:creationId xmlns:a16="http://schemas.microsoft.com/office/drawing/2014/main" id="{29986D52-05C7-749C-39B8-C85179AFF01D}"/>
                </a:ext>
              </a:extLst>
            </p:cNvPr>
            <p:cNvSpPr/>
            <p:nvPr/>
          </p:nvSpPr>
          <p:spPr>
            <a:xfrm>
              <a:off x="5047488" y="1810512"/>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"Who has scored the most goals in World Cup history?"</a:t>
              </a:r>
              <a:endParaRPr lang="en-US" sz="1000" dirty="0">
                <a:latin typeface="Times New Roman" panose="02020603050405020304" pitchFamily="18" charset="0"/>
                <a:cs typeface="Times New Roman" panose="02020603050405020304" pitchFamily="18" charset="0"/>
              </a:endParaRPr>
            </a:p>
          </p:txBody>
        </p:sp>
        <p:sp>
          <p:nvSpPr>
            <p:cNvPr id="48" name="Shape 30">
              <a:extLst>
                <a:ext uri="{FF2B5EF4-FFF2-40B4-BE49-F238E27FC236}">
                  <a16:creationId xmlns:a16="http://schemas.microsoft.com/office/drawing/2014/main" id="{A9655F26-466A-7851-0C44-3A9BDD9AB33B}"/>
                </a:ext>
              </a:extLst>
            </p:cNvPr>
            <p:cNvSpPr/>
            <p:nvPr/>
          </p:nvSpPr>
          <p:spPr>
            <a:xfrm>
              <a:off x="4663440" y="2313432"/>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1" name="Shape 31">
              <a:extLst>
                <a:ext uri="{FF2B5EF4-FFF2-40B4-BE49-F238E27FC236}">
                  <a16:creationId xmlns:a16="http://schemas.microsoft.com/office/drawing/2014/main" id="{92FE828D-096C-95CE-E199-441DC5859FED}"/>
                </a:ext>
              </a:extLst>
            </p:cNvPr>
            <p:cNvSpPr/>
            <p:nvPr/>
          </p:nvSpPr>
          <p:spPr>
            <a:xfrm>
              <a:off x="4736592" y="2432304"/>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2" name="Text 32">
              <a:extLst>
                <a:ext uri="{FF2B5EF4-FFF2-40B4-BE49-F238E27FC236}">
                  <a16:creationId xmlns:a16="http://schemas.microsoft.com/office/drawing/2014/main" id="{EEBF0448-DF74-3A4A-65EB-9E17ED331CE9}"/>
                </a:ext>
              </a:extLst>
            </p:cNvPr>
            <p:cNvSpPr/>
            <p:nvPr/>
          </p:nvSpPr>
          <p:spPr>
            <a:xfrm>
              <a:off x="4736592" y="2432304"/>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2</a:t>
              </a:r>
              <a:endParaRPr lang="en-US" sz="800" dirty="0">
                <a:latin typeface="Times New Roman" panose="02020603050405020304" pitchFamily="18" charset="0"/>
                <a:cs typeface="Times New Roman" panose="02020603050405020304" pitchFamily="18" charset="0"/>
              </a:endParaRPr>
            </a:p>
          </p:txBody>
        </p:sp>
        <p:sp>
          <p:nvSpPr>
            <p:cNvPr id="53" name="Text 33">
              <a:extLst>
                <a:ext uri="{FF2B5EF4-FFF2-40B4-BE49-F238E27FC236}">
                  <a16:creationId xmlns:a16="http://schemas.microsoft.com/office/drawing/2014/main" id="{BDC72E0F-B5F8-C01C-A328-C4AC118DCB13}"/>
                </a:ext>
              </a:extLst>
            </p:cNvPr>
            <p:cNvSpPr/>
            <p:nvPr/>
          </p:nvSpPr>
          <p:spPr>
            <a:xfrm>
              <a:off x="5047488" y="2386584"/>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"Which country has won the most World Cups?"</a:t>
              </a:r>
              <a:endParaRPr lang="en-US" sz="1000" dirty="0">
                <a:latin typeface="Times New Roman" panose="02020603050405020304" pitchFamily="18" charset="0"/>
                <a:cs typeface="Times New Roman" panose="02020603050405020304" pitchFamily="18" charset="0"/>
              </a:endParaRPr>
            </a:p>
          </p:txBody>
        </p:sp>
        <p:sp>
          <p:nvSpPr>
            <p:cNvPr id="54" name="Shape 34">
              <a:extLst>
                <a:ext uri="{FF2B5EF4-FFF2-40B4-BE49-F238E27FC236}">
                  <a16:creationId xmlns:a16="http://schemas.microsoft.com/office/drawing/2014/main" id="{0B37FA60-9CB4-4B7B-6E96-0672ED9EF41B}"/>
                </a:ext>
              </a:extLst>
            </p:cNvPr>
            <p:cNvSpPr/>
            <p:nvPr/>
          </p:nvSpPr>
          <p:spPr>
            <a:xfrm>
              <a:off x="4663440" y="2889504"/>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5" name="Shape 35">
              <a:extLst>
                <a:ext uri="{FF2B5EF4-FFF2-40B4-BE49-F238E27FC236}">
                  <a16:creationId xmlns:a16="http://schemas.microsoft.com/office/drawing/2014/main" id="{3F4ECEA4-3D77-67BD-7567-57DF12F30478}"/>
                </a:ext>
              </a:extLst>
            </p:cNvPr>
            <p:cNvSpPr/>
            <p:nvPr/>
          </p:nvSpPr>
          <p:spPr>
            <a:xfrm>
              <a:off x="4736592" y="3008376"/>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6" name="Text 36">
              <a:extLst>
                <a:ext uri="{FF2B5EF4-FFF2-40B4-BE49-F238E27FC236}">
                  <a16:creationId xmlns:a16="http://schemas.microsoft.com/office/drawing/2014/main" id="{4097B201-98AB-285E-9084-EDC7E6F7234D}"/>
                </a:ext>
              </a:extLst>
            </p:cNvPr>
            <p:cNvSpPr/>
            <p:nvPr/>
          </p:nvSpPr>
          <p:spPr>
            <a:xfrm>
              <a:off x="4736592" y="3008376"/>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3</a:t>
              </a:r>
              <a:endParaRPr lang="en-US" sz="800" dirty="0">
                <a:latin typeface="Times New Roman" panose="02020603050405020304" pitchFamily="18" charset="0"/>
                <a:cs typeface="Times New Roman" panose="02020603050405020304" pitchFamily="18" charset="0"/>
              </a:endParaRPr>
            </a:p>
          </p:txBody>
        </p:sp>
        <p:sp>
          <p:nvSpPr>
            <p:cNvPr id="57" name="Text 37">
              <a:extLst>
                <a:ext uri="{FF2B5EF4-FFF2-40B4-BE49-F238E27FC236}">
                  <a16:creationId xmlns:a16="http://schemas.microsoft.com/office/drawing/2014/main" id="{87577F91-052C-1582-53BB-154BCEE292C2}"/>
                </a:ext>
              </a:extLst>
            </p:cNvPr>
            <p:cNvSpPr/>
            <p:nvPr/>
          </p:nvSpPr>
          <p:spPr>
            <a:xfrm>
              <a:off x="5047488" y="2962656"/>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"predict: Brazil vs Germany"</a:t>
              </a:r>
              <a:endParaRPr lang="en-US" sz="1000" dirty="0">
                <a:latin typeface="Times New Roman" panose="02020603050405020304" pitchFamily="18" charset="0"/>
                <a:cs typeface="Times New Roman" panose="02020603050405020304" pitchFamily="18" charset="0"/>
              </a:endParaRPr>
            </a:p>
          </p:txBody>
        </p:sp>
        <p:sp>
          <p:nvSpPr>
            <p:cNvPr id="58" name="Shape 38">
              <a:extLst>
                <a:ext uri="{FF2B5EF4-FFF2-40B4-BE49-F238E27FC236}">
                  <a16:creationId xmlns:a16="http://schemas.microsoft.com/office/drawing/2014/main" id="{10AE559C-EF74-0CA8-D59D-A575AC669350}"/>
                </a:ext>
              </a:extLst>
            </p:cNvPr>
            <p:cNvSpPr/>
            <p:nvPr/>
          </p:nvSpPr>
          <p:spPr>
            <a:xfrm>
              <a:off x="4663440" y="3465576"/>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9" name="Shape 39">
              <a:extLst>
                <a:ext uri="{FF2B5EF4-FFF2-40B4-BE49-F238E27FC236}">
                  <a16:creationId xmlns:a16="http://schemas.microsoft.com/office/drawing/2014/main" id="{132226F9-7092-A164-D1E9-7C778E8808EE}"/>
                </a:ext>
              </a:extLst>
            </p:cNvPr>
            <p:cNvSpPr/>
            <p:nvPr/>
          </p:nvSpPr>
          <p:spPr>
            <a:xfrm>
              <a:off x="4736592" y="3584448"/>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0" name="Text 40">
              <a:extLst>
                <a:ext uri="{FF2B5EF4-FFF2-40B4-BE49-F238E27FC236}">
                  <a16:creationId xmlns:a16="http://schemas.microsoft.com/office/drawing/2014/main" id="{F8269D1E-2D0E-7E5D-40E9-84D8EAC5BDF4}"/>
                </a:ext>
              </a:extLst>
            </p:cNvPr>
            <p:cNvSpPr/>
            <p:nvPr/>
          </p:nvSpPr>
          <p:spPr>
            <a:xfrm>
              <a:off x="4736592" y="3584448"/>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4</a:t>
              </a:r>
              <a:endParaRPr lang="en-US" sz="800" dirty="0">
                <a:latin typeface="Times New Roman" panose="02020603050405020304" pitchFamily="18" charset="0"/>
                <a:cs typeface="Times New Roman" panose="02020603050405020304" pitchFamily="18" charset="0"/>
              </a:endParaRPr>
            </a:p>
          </p:txBody>
        </p:sp>
        <p:sp>
          <p:nvSpPr>
            <p:cNvPr id="61" name="Text 41">
              <a:extLst>
                <a:ext uri="{FF2B5EF4-FFF2-40B4-BE49-F238E27FC236}">
                  <a16:creationId xmlns:a16="http://schemas.microsoft.com/office/drawing/2014/main" id="{98ECA72E-1493-C8E1-CAE8-B625B1C52BF1}"/>
                </a:ext>
              </a:extLst>
            </p:cNvPr>
            <p:cNvSpPr/>
            <p:nvPr/>
          </p:nvSpPr>
          <p:spPr>
            <a:xfrm>
              <a:off x="5047488" y="3538728"/>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"How many times has Argentina reached the final?"</a:t>
              </a:r>
              <a:endParaRPr lang="en-US" sz="1000" dirty="0">
                <a:latin typeface="Times New Roman" panose="02020603050405020304" pitchFamily="18" charset="0"/>
                <a:cs typeface="Times New Roman" panose="02020603050405020304" pitchFamily="18" charset="0"/>
              </a:endParaRPr>
            </a:p>
          </p:txBody>
        </p:sp>
        <p:sp>
          <p:nvSpPr>
            <p:cNvPr id="62" name="Shape 42">
              <a:extLst>
                <a:ext uri="{FF2B5EF4-FFF2-40B4-BE49-F238E27FC236}">
                  <a16:creationId xmlns:a16="http://schemas.microsoft.com/office/drawing/2014/main" id="{B19EDCB3-36A2-D663-EA9A-A30E2C394DD0}"/>
                </a:ext>
              </a:extLst>
            </p:cNvPr>
            <p:cNvSpPr/>
            <p:nvPr/>
          </p:nvSpPr>
          <p:spPr>
            <a:xfrm>
              <a:off x="4663440" y="4041648"/>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3" name="Shape 43">
              <a:extLst>
                <a:ext uri="{FF2B5EF4-FFF2-40B4-BE49-F238E27FC236}">
                  <a16:creationId xmlns:a16="http://schemas.microsoft.com/office/drawing/2014/main" id="{3D142E3C-8B0D-BDE4-8E39-FD7231EABAE3}"/>
                </a:ext>
              </a:extLst>
            </p:cNvPr>
            <p:cNvSpPr/>
            <p:nvPr/>
          </p:nvSpPr>
          <p:spPr>
            <a:xfrm>
              <a:off x="4736592" y="4160520"/>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4" name="Text 44">
              <a:extLst>
                <a:ext uri="{FF2B5EF4-FFF2-40B4-BE49-F238E27FC236}">
                  <a16:creationId xmlns:a16="http://schemas.microsoft.com/office/drawing/2014/main" id="{731B49B6-4130-1D81-7485-CC64BC42D8A9}"/>
                </a:ext>
              </a:extLst>
            </p:cNvPr>
            <p:cNvSpPr/>
            <p:nvPr/>
          </p:nvSpPr>
          <p:spPr>
            <a:xfrm>
              <a:off x="4736592" y="4160520"/>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5</a:t>
              </a:r>
              <a:endParaRPr lang="en-US" sz="800" dirty="0">
                <a:latin typeface="Times New Roman" panose="02020603050405020304" pitchFamily="18" charset="0"/>
                <a:cs typeface="Times New Roman" panose="02020603050405020304" pitchFamily="18" charset="0"/>
              </a:endParaRPr>
            </a:p>
          </p:txBody>
        </p:sp>
        <p:sp>
          <p:nvSpPr>
            <p:cNvPr id="65" name="Text 45">
              <a:extLst>
                <a:ext uri="{FF2B5EF4-FFF2-40B4-BE49-F238E27FC236}">
                  <a16:creationId xmlns:a16="http://schemas.microsoft.com/office/drawing/2014/main" id="{023BC053-4322-0BAA-4108-D7615F4B5D49}"/>
                </a:ext>
              </a:extLst>
            </p:cNvPr>
            <p:cNvSpPr/>
            <p:nvPr/>
          </p:nvSpPr>
          <p:spPr>
            <a:xfrm>
              <a:off x="5047488" y="4114800"/>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"What was the biggest upset in World Cup history?"</a:t>
              </a:r>
              <a:endParaRPr lang="en-US" sz="1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3420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0" y="6784848"/>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914400" cy="769441"/>
          </a:xfrm>
          <a:prstGeom prst="rect">
            <a:avLst/>
          </a:prstGeom>
          <a:noFill/>
        </p:spPr>
        <p:txBody>
          <a:bodyPr wrap="square">
            <a:spAutoFit/>
          </a:bodyPr>
          <a:lstStyle/>
          <a:p>
            <a:pPr algn="l"/>
            <a:r>
              <a:rPr sz="4400" b="0" i="0" dirty="0">
                <a:solidFill>
                  <a:srgbClr val="FFFFFF"/>
                </a:solidFill>
                <a:latin typeface="Times New Roman" panose="02020603050405020304" pitchFamily="18" charset="0"/>
                <a:cs typeface="Times New Roman" panose="02020603050405020304" pitchFamily="18" charset="0"/>
              </a:rPr>
              <a:t>⚽</a:t>
            </a:r>
          </a:p>
        </p:txBody>
      </p:sp>
      <p:sp>
        <p:nvSpPr>
          <p:cNvPr id="6" name="TextBox 5"/>
          <p:cNvSpPr txBox="1"/>
          <p:nvPr/>
        </p:nvSpPr>
        <p:spPr>
          <a:xfrm>
            <a:off x="1188720" y="228600"/>
            <a:ext cx="9601200" cy="492443"/>
          </a:xfrm>
          <a:prstGeom prst="rect">
            <a:avLst/>
          </a:prstGeom>
          <a:noFill/>
        </p:spPr>
        <p:txBody>
          <a:bodyPr wrap="square">
            <a:spAutoFit/>
          </a:bodyPr>
          <a:lstStyle/>
          <a:p>
            <a:pPr algn="l"/>
            <a:r>
              <a:rPr sz="2600" b="1" i="0">
                <a:solidFill>
                  <a:srgbClr val="FFFFFF"/>
                </a:solidFill>
                <a:latin typeface="Times New Roman" panose="02020603050405020304" pitchFamily="18" charset="0"/>
                <a:cs typeface="Times New Roman" panose="02020603050405020304" pitchFamily="18" charset="0"/>
              </a:rPr>
              <a:t>Limitations, Responsible AI &amp; Future Work</a:t>
            </a:r>
          </a:p>
        </p:txBody>
      </p:sp>
      <p:sp>
        <p:nvSpPr>
          <p:cNvPr id="7" name="TextBox 6"/>
          <p:cNvSpPr txBox="1"/>
          <p:nvPr/>
        </p:nvSpPr>
        <p:spPr>
          <a:xfrm>
            <a:off x="1188720" y="841248"/>
            <a:ext cx="9144000" cy="276999"/>
          </a:xfrm>
          <a:prstGeom prst="rect">
            <a:avLst/>
          </a:prstGeom>
          <a:noFill/>
        </p:spPr>
        <p:txBody>
          <a:bodyPr wrap="square">
            <a:spAutoFit/>
          </a:bodyPr>
          <a:lstStyle/>
          <a:p>
            <a:pPr algn="l"/>
            <a:r>
              <a:rPr sz="1200" b="0" i="1">
                <a:solidFill>
                  <a:srgbClr val="CCD6E0"/>
                </a:solidFill>
                <a:latin typeface="Times New Roman" panose="02020603050405020304" pitchFamily="18" charset="0"/>
                <a:cs typeface="Times New Roman" panose="02020603050405020304" pitchFamily="18" charset="0"/>
              </a:rPr>
              <a:t>Group 6  ·  World Cup GenAI Hackathon  ·  Spring 2026</a:t>
            </a:r>
          </a:p>
        </p:txBody>
      </p:sp>
      <p:sp>
        <p:nvSpPr>
          <p:cNvPr id="8" name="Rectangle 7"/>
          <p:cNvSpPr/>
          <p:nvPr/>
        </p:nvSpPr>
        <p:spPr>
          <a:xfrm>
            <a:off x="365760" y="1325880"/>
            <a:ext cx="5394960" cy="384048"/>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502920" y="1353312"/>
            <a:ext cx="5212080" cy="292388"/>
          </a:xfrm>
          <a:prstGeom prst="rect">
            <a:avLst/>
          </a:prstGeom>
          <a:noFill/>
        </p:spPr>
        <p:txBody>
          <a:bodyPr wrap="square">
            <a:spAutoFit/>
          </a:bodyPr>
          <a:lstStyle/>
          <a:p>
            <a:pPr algn="l"/>
            <a:r>
              <a:rPr lang="en-IN" sz="1300" b="1" i="0" dirty="0">
                <a:solidFill>
                  <a:srgbClr val="FFFFFF"/>
                </a:solidFill>
                <a:latin typeface="Times New Roman" panose="02020603050405020304" pitchFamily="18" charset="0"/>
                <a:cs typeface="Times New Roman" panose="02020603050405020304" pitchFamily="18" charset="0"/>
              </a:rPr>
              <a:t>Known Limitations</a:t>
            </a:r>
            <a:endParaRPr sz="1300" b="1" i="0" dirty="0">
              <a:solidFill>
                <a:srgbClr val="FFFFFF"/>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02920" y="1783080"/>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Data coverage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2514600" y="1822840"/>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dataset covers international matches through early 2026 including all World Cups through 2022. As with any historical dataset, the most recent matches may not yet be reflected.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02920" y="2350008"/>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Recent form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2514600" y="2355143"/>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Recent form is computed from the last 10 international matches across all competitions, which provides a broad signal but may weigh friendlies equally with competitive fixtures.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502920" y="2916936"/>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Historical comparisons</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514600" y="3025946"/>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Comparing teams across different football eras naturally involves some approximation, as rules, team composition, and competition standards evolve over time.</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502920" y="3483863"/>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Prediction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2514600" y="3558249"/>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Predictions are based on historical statistical patterns and do not incorporate real-time factors such as current squad fitness, managerial tactics, or match-day conditions.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502920" y="4050791"/>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Model behavior</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2514600" y="4090551"/>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LLM synthesizes text based on retrieved and computed evidence, and is explicitly prompted to avoid speculation, though no language model is perfectly constrained.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365760" y="4709160"/>
            <a:ext cx="5394960" cy="384048"/>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502920" y="4736592"/>
            <a:ext cx="5212080" cy="292388"/>
          </a:xfrm>
          <a:prstGeom prst="rect">
            <a:avLst/>
          </a:prstGeom>
          <a:noFill/>
        </p:spPr>
        <p:txBody>
          <a:bodyPr wrap="square">
            <a:spAutoFit/>
          </a:bodyPr>
          <a:lstStyle/>
          <a:p>
            <a:pPr algn="l"/>
            <a:r>
              <a:rPr sz="1300" b="1" i="0" dirty="0">
                <a:solidFill>
                  <a:srgbClr val="FFFFFF"/>
                </a:solidFill>
                <a:latin typeface="Times New Roman" panose="02020603050405020304" pitchFamily="18" charset="0"/>
                <a:cs typeface="Times New Roman" panose="02020603050405020304" pitchFamily="18" charset="0"/>
              </a:rPr>
              <a:t>Future Enhancements</a:t>
            </a:r>
          </a:p>
        </p:txBody>
      </p:sp>
      <p:sp>
        <p:nvSpPr>
          <p:cNvPr id="22" name="TextBox 21"/>
          <p:cNvSpPr txBox="1"/>
          <p:nvPr/>
        </p:nvSpPr>
        <p:spPr>
          <a:xfrm>
            <a:off x="502920" y="5166360"/>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Elo rating integration</a:t>
            </a:r>
          </a:p>
        </p:txBody>
      </p:sp>
      <p:sp>
        <p:nvSpPr>
          <p:cNvPr id="24" name="TextBox 23"/>
          <p:cNvSpPr txBox="1"/>
          <p:nvPr/>
        </p:nvSpPr>
        <p:spPr>
          <a:xfrm>
            <a:off x="502920" y="5482944"/>
            <a:ext cx="5120640" cy="307777"/>
          </a:xfrm>
          <a:prstGeom prst="rect">
            <a:avLst/>
          </a:prstGeom>
          <a:noFill/>
        </p:spPr>
        <p:txBody>
          <a:bodyPr wrap="square">
            <a:spAutoFit/>
          </a:bodyPr>
          <a:lstStyle/>
          <a:p>
            <a:pPr algn="l"/>
            <a:r>
              <a:rPr sz="1400" b="0" i="0" dirty="0">
                <a:solidFill>
                  <a:srgbClr val="EAF0FB"/>
                </a:solidFill>
                <a:latin typeface="Times New Roman" panose="02020603050405020304" pitchFamily="18" charset="0"/>
                <a:cs typeface="Times New Roman" panose="02020603050405020304" pitchFamily="18" charset="0"/>
              </a:rPr>
              <a:t>▸ Tournament bracket simulation</a:t>
            </a:r>
          </a:p>
        </p:txBody>
      </p:sp>
      <p:sp>
        <p:nvSpPr>
          <p:cNvPr id="25" name="TextBox 24"/>
          <p:cNvSpPr txBox="1"/>
          <p:nvPr/>
        </p:nvSpPr>
        <p:spPr>
          <a:xfrm>
            <a:off x="502920" y="5848704"/>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Player-level squad stats</a:t>
            </a:r>
          </a:p>
        </p:txBody>
      </p:sp>
      <p:sp>
        <p:nvSpPr>
          <p:cNvPr id="26" name="Rectangle 25"/>
          <p:cNvSpPr/>
          <p:nvPr/>
        </p:nvSpPr>
        <p:spPr>
          <a:xfrm>
            <a:off x="6035040" y="1325880"/>
            <a:ext cx="5806440" cy="5230368"/>
          </a:xfrm>
          <a:prstGeom prst="rect">
            <a:avLst/>
          </a:prstGeom>
          <a:solidFill>
            <a:srgbClr val="12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6217920" y="1417320"/>
            <a:ext cx="5486400" cy="400110"/>
          </a:xfrm>
          <a:prstGeom prst="rect">
            <a:avLst/>
          </a:prstGeom>
          <a:noFill/>
        </p:spPr>
        <p:txBody>
          <a:bodyPr wrap="square">
            <a:spAutoFit/>
          </a:bodyPr>
          <a:lstStyle/>
          <a:p>
            <a:pPr algn="l"/>
            <a:r>
              <a:rPr lang="en-IN" sz="2000" b="1" i="0" dirty="0">
                <a:solidFill>
                  <a:srgbClr val="C88600"/>
                </a:solidFill>
                <a:latin typeface="Times New Roman" panose="02020603050405020304" pitchFamily="18" charset="0"/>
                <a:cs typeface="Times New Roman" panose="02020603050405020304" pitchFamily="18" charset="0"/>
              </a:rPr>
              <a:t>Responsible AI</a:t>
            </a:r>
            <a:endParaRPr sz="2000" b="1" i="0" dirty="0">
              <a:solidFill>
                <a:srgbClr val="C88600"/>
              </a:solidFill>
              <a:latin typeface="Times New Roman" panose="02020603050405020304" pitchFamily="18" charset="0"/>
              <a:cs typeface="Times New Roman" panose="02020603050405020304" pitchFamily="18" charset="0"/>
            </a:endParaRPr>
          </a:p>
        </p:txBody>
      </p:sp>
      <p:sp>
        <p:nvSpPr>
          <p:cNvPr id="28" name="Rectangle 27"/>
          <p:cNvSpPr/>
          <p:nvPr/>
        </p:nvSpPr>
        <p:spPr>
          <a:xfrm>
            <a:off x="6217920" y="1810512"/>
            <a:ext cx="5212080" cy="36576"/>
          </a:xfrm>
          <a:prstGeom prst="rect">
            <a:avLst/>
          </a:prstGeom>
          <a:solidFill>
            <a:srgbClr val="C88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p:cNvSpPr txBox="1"/>
          <p:nvPr/>
        </p:nvSpPr>
        <p:spPr>
          <a:xfrm>
            <a:off x="6217920" y="1920240"/>
            <a:ext cx="5394960" cy="2554545"/>
          </a:xfrm>
          <a:prstGeom prst="rect">
            <a:avLst/>
          </a:prstGeom>
          <a:noFill/>
        </p:spPr>
        <p:txBody>
          <a:bodyPr wrap="square">
            <a:spAutoFit/>
          </a:bodyPr>
          <a:lstStyle/>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All statistics are computed from verifiable, publicly available source data.</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The LLM is instructed to avoid hallucinating statistics in all 4 prompt templates.</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Confidence levels and limitations are stated with every prediction.</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 dedicated fallback prompt prevents guessing when evidence is insufficient.</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Prompts explicitly discourage use as betting advice.</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Data sources are cited with URLs and licensing information</a:t>
            </a:r>
            <a:endParaRPr sz="1600" b="0" i="0" dirty="0">
              <a:solidFill>
                <a:srgbClr val="FFFFFF"/>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6035040" y="5989320"/>
            <a:ext cx="5806440" cy="566928"/>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TextBox 37"/>
          <p:cNvSpPr txBox="1"/>
          <p:nvPr/>
        </p:nvSpPr>
        <p:spPr>
          <a:xfrm>
            <a:off x="6172200" y="6035040"/>
            <a:ext cx="5577840" cy="307777"/>
          </a:xfrm>
          <a:prstGeom prst="rect">
            <a:avLst/>
          </a:prstGeom>
          <a:noFill/>
        </p:spPr>
        <p:txBody>
          <a:bodyPr wrap="square">
            <a:spAutoFit/>
          </a:bodyPr>
          <a:lstStyle/>
          <a:p>
            <a:pPr algn="ctr"/>
            <a:r>
              <a:rPr sz="1400" b="1" i="0">
                <a:solidFill>
                  <a:srgbClr val="FFFFFF"/>
                </a:solidFill>
                <a:latin typeface="Times New Roman" panose="02020603050405020304" pitchFamily="18" charset="0"/>
                <a:cs typeface="Times New Roman" panose="02020603050405020304" pitchFamily="18" charset="0"/>
              </a:rPr>
              <a:t>Thank you! Happy to take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1774</Words>
  <Application>Microsoft Macintosh PowerPoint</Application>
  <PresentationFormat>Custom</PresentationFormat>
  <Paragraphs>162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Novia Vijay Dsilva</cp:lastModifiedBy>
  <cp:revision>10</cp:revision>
  <dcterms:created xsi:type="dcterms:W3CDTF">2013-01-27T09:14:16Z</dcterms:created>
  <dcterms:modified xsi:type="dcterms:W3CDTF">2026-03-01T06:14:18Z</dcterms:modified>
  <cp:category/>
</cp:coreProperties>
</file>